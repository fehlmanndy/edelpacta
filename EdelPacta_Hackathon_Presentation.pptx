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899F63-54AA-17F6-A7E1-164B7B7EB9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B0D7CC-87EC-9975-1426-1882E6C961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682183-A2C4-E4D2-B013-AF1E2BCDF7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48AB19-9AB8-5D9D-9425-50AD05C96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0005F7-6CE1-7BAB-AAEE-403CB06BCA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A045DB-5426-61EB-12D7-29D1E59FE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4E540A-D809-CA2F-752B-23EFF8DA5C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66786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6485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399754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630391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4290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0573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98842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27487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122611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95147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36768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92873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1206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500063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45853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9879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31696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38054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90843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093735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40219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9742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73792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6501626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782835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75201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901842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3778643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552388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235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709664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6895593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830991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13439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3507346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472867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5369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179297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72040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65649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817235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68793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08253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728856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009296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81031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585582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75792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4958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93755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46477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438948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71596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12409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869168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11801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38614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60214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80744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60346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166992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6631012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388389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8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832941" name="Rectangle 1"/>
          <p:cNvSpPr/>
          <p:nvPr/>
        </p:nvSpPr>
        <p:spPr bwMode="auto">
          <a:xfrm>
            <a:off x="0" y="0"/>
            <a:ext cx="182880" cy="685800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512249" name="Rectangle 2"/>
          <p:cNvSpPr/>
          <p:nvPr/>
        </p:nvSpPr>
        <p:spPr bwMode="auto">
          <a:xfrm>
            <a:off x="182880" y="0"/>
            <a:ext cx="12006072" cy="1051560"/>
          </a:xfrm>
          <a:prstGeom prst="rect">
            <a:avLst/>
          </a:prstGeom>
          <a:solidFill>
            <a:srgbClr val="FAF7F2"/>
          </a:solidFill>
          <a:ln w="6350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6272354" name="Rectangle 3"/>
          <p:cNvSpPr/>
          <p:nvPr/>
        </p:nvSpPr>
        <p:spPr bwMode="auto">
          <a:xfrm>
            <a:off x="182880" y="1033271"/>
            <a:ext cx="12006072" cy="4572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97235367" name="Picture 4" descr="edelpacta_log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8" y="82296"/>
            <a:ext cx="804672" cy="886968"/>
          </a:xfrm>
          <a:prstGeom prst="rect">
            <a:avLst/>
          </a:prstGeom>
        </p:spPr>
      </p:pic>
      <p:sp>
        <p:nvSpPr>
          <p:cNvPr id="1694900252" name="TextBox 5"/>
          <p:cNvSpPr txBox="1"/>
          <p:nvPr/>
        </p:nvSpPr>
        <p:spPr bwMode="auto">
          <a:xfrm>
            <a:off x="1325880" y="182880"/>
            <a:ext cx="4572360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600" b="1" i="0" spc="35">
                <a:solidFill>
                  <a:srgbClr val="6B1728"/>
                </a:solidFill>
              </a:rPr>
              <a:t>EDELPACTA</a:t>
            </a:r>
            <a:endParaRPr/>
          </a:p>
        </p:txBody>
      </p:sp>
      <p:sp>
        <p:nvSpPr>
          <p:cNvPr id="438664657" name="Rectangle 6"/>
          <p:cNvSpPr/>
          <p:nvPr/>
        </p:nvSpPr>
        <p:spPr bwMode="auto">
          <a:xfrm>
            <a:off x="8778240" y="164592"/>
            <a:ext cx="3200400" cy="713232"/>
          </a:xfrm>
          <a:prstGeom prst="rect">
            <a:avLst/>
          </a:prstGeom>
          <a:solidFill>
            <a:srgbClr val="EDE8DC"/>
          </a:solidFill>
          <a:ln w="9525">
            <a:solidFill>
              <a:srgbClr val="B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4717535" name="TextBox 7"/>
          <p:cNvSpPr txBox="1"/>
          <p:nvPr/>
        </p:nvSpPr>
        <p:spPr bwMode="auto">
          <a:xfrm>
            <a:off x="8823960" y="219456"/>
            <a:ext cx="311076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 spc="11">
                <a:solidFill>
                  <a:srgbClr val="B8963E"/>
                </a:solidFill>
              </a:rPr>
              <a:t>XRPL HACKATHON 2025</a:t>
            </a:r>
            <a:endParaRPr sz="2400"/>
          </a:p>
        </p:txBody>
      </p:sp>
      <p:sp>
        <p:nvSpPr>
          <p:cNvPr id="9555210" name="TextBox 8"/>
          <p:cNvSpPr txBox="1"/>
          <p:nvPr/>
        </p:nvSpPr>
        <p:spPr bwMode="auto">
          <a:xfrm>
            <a:off x="8823960" y="548640"/>
            <a:ext cx="31107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0" i="1">
                <a:solidFill>
                  <a:srgbClr val="6B5A44"/>
                </a:solidFill>
              </a:rPr>
              <a:t>Programmability Track</a:t>
            </a:r>
            <a:endParaRPr sz="2400"/>
          </a:p>
        </p:txBody>
      </p:sp>
      <p:sp>
        <p:nvSpPr>
          <p:cNvPr id="1462516793" name="TextBox 9"/>
          <p:cNvSpPr txBox="1"/>
          <p:nvPr/>
        </p:nvSpPr>
        <p:spPr bwMode="auto">
          <a:xfrm>
            <a:off x="502920" y="1188720"/>
            <a:ext cx="8686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5200" b="1" i="0">
                <a:solidFill>
                  <a:srgbClr val="1A120A"/>
                </a:solidFill>
              </a:rPr>
              <a:t>Real Estate Tokenization</a:t>
            </a:r>
            <a:br>
              <a:rPr sz="5200" b="1" i="0">
                <a:solidFill>
                  <a:srgbClr val="1A120A"/>
                </a:solidFill>
              </a:rPr>
            </a:br>
            <a:r>
              <a:rPr sz="5200" b="1" i="0">
                <a:solidFill>
                  <a:srgbClr val="1A120A"/>
                </a:solidFill>
              </a:rPr>
              <a:t>&amp; Smart Escrow</a:t>
            </a:r>
            <a:endParaRPr/>
          </a:p>
        </p:txBody>
      </p:sp>
      <p:sp>
        <p:nvSpPr>
          <p:cNvPr id="1607352837" name="Rectangle 10"/>
          <p:cNvSpPr/>
          <p:nvPr/>
        </p:nvSpPr>
        <p:spPr bwMode="auto">
          <a:xfrm>
            <a:off x="502920" y="3886200"/>
            <a:ext cx="6858000" cy="27432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3701378" name="TextBox 11"/>
          <p:cNvSpPr txBox="1"/>
          <p:nvPr/>
        </p:nvSpPr>
        <p:spPr bwMode="auto">
          <a:xfrm>
            <a:off x="502920" y="4041648"/>
            <a:ext cx="868752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0" i="1">
                <a:solidFill>
                  <a:srgbClr val="6B5A44"/>
                </a:solidFill>
              </a:rPr>
              <a:t>Pacta sunt servanda. By code.</a:t>
            </a:r>
            <a:endParaRPr sz="2200"/>
          </a:p>
        </p:txBody>
      </p:sp>
      <p:sp>
        <p:nvSpPr>
          <p:cNvPr id="1189845500" name="Rectangle 12"/>
          <p:cNvSpPr/>
          <p:nvPr/>
        </p:nvSpPr>
        <p:spPr bwMode="auto">
          <a:xfrm>
            <a:off x="502920" y="4919471"/>
            <a:ext cx="6400800" cy="960120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3850436" name="Rectangle 13"/>
          <p:cNvSpPr/>
          <p:nvPr/>
        </p:nvSpPr>
        <p:spPr bwMode="auto">
          <a:xfrm>
            <a:off x="502920" y="4919471"/>
            <a:ext cx="73152" cy="96012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646335" name="TextBox 14"/>
          <p:cNvSpPr txBox="1"/>
          <p:nvPr/>
        </p:nvSpPr>
        <p:spPr bwMode="auto">
          <a:xfrm>
            <a:off x="749808" y="5029199"/>
            <a:ext cx="3201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 spc="18">
                <a:solidFill>
                  <a:srgbClr val="8A7A68"/>
                </a:solidFill>
              </a:rPr>
              <a:t>CREATED BY</a:t>
            </a:r>
            <a:endParaRPr sz="2400"/>
          </a:p>
        </p:txBody>
      </p:sp>
      <p:sp>
        <p:nvSpPr>
          <p:cNvPr id="240644345" name="TextBox 15"/>
          <p:cNvSpPr txBox="1"/>
          <p:nvPr/>
        </p:nvSpPr>
        <p:spPr bwMode="auto">
          <a:xfrm>
            <a:off x="749808" y="5321808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 i="0">
                <a:solidFill>
                  <a:srgbClr val="1A120A"/>
                </a:solidFill>
              </a:rPr>
              <a:t>Dylan Fehlmann  &amp;  Hugo Germano</a:t>
            </a:r>
            <a:endParaRPr/>
          </a:p>
        </p:txBody>
      </p:sp>
      <p:sp>
        <p:nvSpPr>
          <p:cNvPr id="325081674" name="TextBox 29"/>
          <p:cNvSpPr txBox="1"/>
          <p:nvPr/>
        </p:nvSpPr>
        <p:spPr bwMode="auto">
          <a:xfrm>
            <a:off x="457200" y="663854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1">
                <a:solidFill>
                  <a:srgbClr val="8A7A68"/>
                </a:solidFill>
              </a:rPr>
              <a:t>XRPL  |  WASM Hooks  |  XLS-20 NFT  |  Swiyu e-ID (Swiss Gov)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8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329979" name="Rectangle 1"/>
          <p:cNvSpPr/>
          <p:nvPr/>
        </p:nvSpPr>
        <p:spPr bwMode="auto">
          <a:xfrm>
            <a:off x="0" y="0"/>
            <a:ext cx="182880" cy="685800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3714853" name="Rectangle 2"/>
          <p:cNvSpPr/>
          <p:nvPr/>
        </p:nvSpPr>
        <p:spPr bwMode="auto">
          <a:xfrm>
            <a:off x="182880" y="0"/>
            <a:ext cx="12006072" cy="1051560"/>
          </a:xfrm>
          <a:prstGeom prst="rect">
            <a:avLst/>
          </a:prstGeom>
          <a:solidFill>
            <a:srgbClr val="FAF7F2"/>
          </a:solidFill>
          <a:ln w="6350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7996517" name="Rectangle 3"/>
          <p:cNvSpPr/>
          <p:nvPr/>
        </p:nvSpPr>
        <p:spPr bwMode="auto">
          <a:xfrm>
            <a:off x="182880" y="1033271"/>
            <a:ext cx="12006072" cy="4572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2888656" name="Picture 4" descr="edelpacta_log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8" y="82296"/>
            <a:ext cx="804672" cy="886968"/>
          </a:xfrm>
          <a:prstGeom prst="rect">
            <a:avLst/>
          </a:prstGeom>
        </p:spPr>
      </p:pic>
      <p:sp>
        <p:nvSpPr>
          <p:cNvPr id="1934543807" name="TextBox 5"/>
          <p:cNvSpPr txBox="1"/>
          <p:nvPr/>
        </p:nvSpPr>
        <p:spPr bwMode="auto">
          <a:xfrm>
            <a:off x="1325880" y="182880"/>
            <a:ext cx="4572360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600" b="1" i="0" spc="35">
                <a:solidFill>
                  <a:srgbClr val="6B1728"/>
                </a:solidFill>
              </a:rPr>
              <a:t>EDELPACTA</a:t>
            </a:r>
            <a:endParaRPr sz="3600"/>
          </a:p>
        </p:txBody>
      </p:sp>
      <p:sp>
        <p:nvSpPr>
          <p:cNvPr id="890861495" name="TextBox 6"/>
          <p:cNvSpPr txBox="1"/>
          <p:nvPr/>
        </p:nvSpPr>
        <p:spPr bwMode="auto">
          <a:xfrm>
            <a:off x="1325880" y="640080"/>
            <a:ext cx="823103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 spc="18">
                <a:solidFill>
                  <a:srgbClr val="8A7A68"/>
                </a:solidFill>
              </a:rPr>
              <a:t>THE USER</a:t>
            </a:r>
            <a:endParaRPr sz="2600"/>
          </a:p>
        </p:txBody>
      </p:sp>
      <p:sp>
        <p:nvSpPr>
          <p:cNvPr id="136633125" name="TextBox 7"/>
          <p:cNvSpPr txBox="1"/>
          <p:nvPr/>
        </p:nvSpPr>
        <p:spPr bwMode="auto">
          <a:xfrm>
            <a:off x="502920" y="1170432"/>
            <a:ext cx="91440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1A120A"/>
                </a:solidFill>
              </a:rPr>
              <a:t>Who suffers from</a:t>
            </a:r>
            <a:br>
              <a:rPr sz="4000" b="1" i="0">
                <a:solidFill>
                  <a:srgbClr val="1A120A"/>
                </a:solidFill>
              </a:rPr>
            </a:br>
            <a:r>
              <a:rPr sz="4000" b="1" i="0">
                <a:solidFill>
                  <a:srgbClr val="1A120A"/>
                </a:solidFill>
              </a:rPr>
              <a:t>this broken process?</a:t>
            </a:r>
            <a:endParaRPr/>
          </a:p>
        </p:txBody>
      </p:sp>
      <p:sp>
        <p:nvSpPr>
          <p:cNvPr id="50173362" name="Rectangle 8"/>
          <p:cNvSpPr/>
          <p:nvPr/>
        </p:nvSpPr>
        <p:spPr bwMode="auto">
          <a:xfrm>
            <a:off x="502920" y="2788920"/>
            <a:ext cx="10515600" cy="27432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7977141" name="Rectangle 9"/>
          <p:cNvSpPr/>
          <p:nvPr/>
        </p:nvSpPr>
        <p:spPr bwMode="auto">
          <a:xfrm>
            <a:off x="411480" y="2971800"/>
            <a:ext cx="10972800" cy="804672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7906960" name="Rectangle 10"/>
          <p:cNvSpPr/>
          <p:nvPr/>
        </p:nvSpPr>
        <p:spPr bwMode="auto">
          <a:xfrm>
            <a:off x="411480" y="2971800"/>
            <a:ext cx="73152" cy="804672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9735756" name="TextBox 11"/>
          <p:cNvSpPr txBox="1"/>
          <p:nvPr/>
        </p:nvSpPr>
        <p:spPr bwMode="auto">
          <a:xfrm flipH="0" flipV="0">
            <a:off x="658368" y="3152425"/>
            <a:ext cx="4118400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0" i="1">
                <a:solidFill>
                  <a:srgbClr val="8A7A68"/>
                </a:solidFill>
              </a:rPr>
              <a:t>Switzerland processes over</a:t>
            </a:r>
            <a:endParaRPr sz="2600"/>
          </a:p>
        </p:txBody>
      </p:sp>
      <p:sp>
        <p:nvSpPr>
          <p:cNvPr id="1288221177" name="TextBox 12"/>
          <p:cNvSpPr txBox="1"/>
          <p:nvPr/>
        </p:nvSpPr>
        <p:spPr bwMode="auto">
          <a:xfrm>
            <a:off x="4265007" y="3115849"/>
            <a:ext cx="3201480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6B1728"/>
                </a:solidFill>
              </a:rPr>
              <a:t>CHF 70 billion</a:t>
            </a:r>
            <a:endParaRPr sz="2400"/>
          </a:p>
        </p:txBody>
      </p:sp>
      <p:sp>
        <p:nvSpPr>
          <p:cNvPr id="810784665" name="TextBox 13"/>
          <p:cNvSpPr txBox="1"/>
          <p:nvPr/>
        </p:nvSpPr>
        <p:spPr bwMode="auto">
          <a:xfrm flipH="0" flipV="0">
            <a:off x="6836407" y="3152425"/>
            <a:ext cx="4369312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0" i="1">
                <a:solidFill>
                  <a:srgbClr val="8A7A68"/>
                </a:solidFill>
              </a:rPr>
              <a:t>in real estate transactions every year</a:t>
            </a:r>
            <a:endParaRPr sz="2600"/>
          </a:p>
        </p:txBody>
      </p:sp>
      <p:sp>
        <p:nvSpPr>
          <p:cNvPr id="182443416" name="Rectangle 14"/>
          <p:cNvSpPr/>
          <p:nvPr/>
        </p:nvSpPr>
        <p:spPr bwMode="auto">
          <a:xfrm>
            <a:off x="411480" y="3931920"/>
            <a:ext cx="3429000" cy="2633472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2092811" name="Rectangle 15"/>
          <p:cNvSpPr/>
          <p:nvPr/>
        </p:nvSpPr>
        <p:spPr bwMode="auto">
          <a:xfrm>
            <a:off x="411480" y="3931920"/>
            <a:ext cx="3429000" cy="54864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6660396" name="TextBox 16"/>
          <p:cNvSpPr txBox="1"/>
          <p:nvPr/>
        </p:nvSpPr>
        <p:spPr bwMode="auto">
          <a:xfrm>
            <a:off x="612648" y="4099956"/>
            <a:ext cx="3063600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6B1728"/>
                </a:solidFill>
              </a:rPr>
              <a:t>The Buyer</a:t>
            </a:r>
            <a:endParaRPr sz="2000"/>
          </a:p>
        </p:txBody>
      </p:sp>
      <p:sp>
        <p:nvSpPr>
          <p:cNvPr id="1000533470" name="Rectangle 17"/>
          <p:cNvSpPr/>
          <p:nvPr/>
        </p:nvSpPr>
        <p:spPr bwMode="auto">
          <a:xfrm>
            <a:off x="612648" y="4590288"/>
            <a:ext cx="3026664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9296348" name="TextBox 18"/>
          <p:cNvSpPr txBox="1"/>
          <p:nvPr/>
        </p:nvSpPr>
        <p:spPr bwMode="auto">
          <a:xfrm>
            <a:off x="612648" y="4718304"/>
            <a:ext cx="3063600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0">
                <a:solidFill>
                  <a:srgbClr val="6B5A44"/>
                </a:solidFill>
              </a:rPr>
              <a:t>Lock up millions of CHF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for 8 weeks in a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notary's bank account.</a:t>
            </a:r>
            <a:endParaRPr sz="2000"/>
          </a:p>
        </p:txBody>
      </p:sp>
      <p:sp>
        <p:nvSpPr>
          <p:cNvPr id="1819167103" name="TextBox 19"/>
          <p:cNvSpPr txBox="1"/>
          <p:nvPr/>
        </p:nvSpPr>
        <p:spPr bwMode="auto">
          <a:xfrm>
            <a:off x="612648" y="5833872"/>
            <a:ext cx="30636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1">
                <a:solidFill>
                  <a:srgbClr val="8A7A68"/>
                </a:solidFill>
              </a:rPr>
              <a:t>No visibility. Blind trust.</a:t>
            </a:r>
            <a:endParaRPr sz="2000"/>
          </a:p>
        </p:txBody>
      </p:sp>
      <p:sp>
        <p:nvSpPr>
          <p:cNvPr id="1733003706" name="Rectangle 20"/>
          <p:cNvSpPr/>
          <p:nvPr/>
        </p:nvSpPr>
        <p:spPr bwMode="auto">
          <a:xfrm>
            <a:off x="4178808" y="3931920"/>
            <a:ext cx="3429000" cy="2633472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2874322" name="Rectangle 21"/>
          <p:cNvSpPr/>
          <p:nvPr/>
        </p:nvSpPr>
        <p:spPr bwMode="auto">
          <a:xfrm>
            <a:off x="4178808" y="3931920"/>
            <a:ext cx="3429000" cy="54864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1690639" name="TextBox 22"/>
          <p:cNvSpPr txBox="1"/>
          <p:nvPr/>
        </p:nvSpPr>
        <p:spPr bwMode="auto">
          <a:xfrm>
            <a:off x="4379976" y="4099956"/>
            <a:ext cx="3063600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B8963E"/>
                </a:solidFill>
              </a:rPr>
              <a:t>The Seller</a:t>
            </a:r>
            <a:endParaRPr sz="2000"/>
          </a:p>
        </p:txBody>
      </p:sp>
      <p:sp>
        <p:nvSpPr>
          <p:cNvPr id="760187024" name="Rectangle 23"/>
          <p:cNvSpPr/>
          <p:nvPr/>
        </p:nvSpPr>
        <p:spPr bwMode="auto">
          <a:xfrm>
            <a:off x="4379976" y="4590288"/>
            <a:ext cx="3026664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7758219" name="TextBox 24"/>
          <p:cNvSpPr txBox="1"/>
          <p:nvPr/>
        </p:nvSpPr>
        <p:spPr bwMode="auto">
          <a:xfrm>
            <a:off x="4379976" y="4718304"/>
            <a:ext cx="3063600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0">
                <a:solidFill>
                  <a:srgbClr val="6B5A44"/>
                </a:solidFill>
              </a:rPr>
              <a:t>Submit paper documents,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prove tax compliance,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wait for manual approval.</a:t>
            </a:r>
            <a:endParaRPr sz="2000"/>
          </a:p>
        </p:txBody>
      </p:sp>
      <p:sp>
        <p:nvSpPr>
          <p:cNvPr id="834324057" name="TextBox 25"/>
          <p:cNvSpPr txBox="1"/>
          <p:nvPr/>
        </p:nvSpPr>
        <p:spPr bwMode="auto">
          <a:xfrm>
            <a:off x="4379976" y="5833872"/>
            <a:ext cx="30636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1">
                <a:solidFill>
                  <a:srgbClr val="8A7A68"/>
                </a:solidFill>
              </a:rPr>
              <a:t>Slow. Error-prone. Costly.</a:t>
            </a:r>
            <a:endParaRPr sz="2000"/>
          </a:p>
        </p:txBody>
      </p:sp>
      <p:sp>
        <p:nvSpPr>
          <p:cNvPr id="59699092" name="Rectangle 26"/>
          <p:cNvSpPr/>
          <p:nvPr/>
        </p:nvSpPr>
        <p:spPr bwMode="auto">
          <a:xfrm>
            <a:off x="7946136" y="3931920"/>
            <a:ext cx="3429000" cy="2633472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7782674" name="Rectangle 27"/>
          <p:cNvSpPr/>
          <p:nvPr/>
        </p:nvSpPr>
        <p:spPr bwMode="auto">
          <a:xfrm>
            <a:off x="7946136" y="3931920"/>
            <a:ext cx="3429000" cy="54864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8860750" name="TextBox 28"/>
          <p:cNvSpPr txBox="1"/>
          <p:nvPr/>
        </p:nvSpPr>
        <p:spPr bwMode="auto">
          <a:xfrm>
            <a:off x="8147304" y="4099956"/>
            <a:ext cx="3063600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6B1728"/>
                </a:solidFill>
              </a:rPr>
              <a:t>The Notary</a:t>
            </a:r>
            <a:endParaRPr sz="2000"/>
          </a:p>
        </p:txBody>
      </p:sp>
      <p:sp>
        <p:nvSpPr>
          <p:cNvPr id="33153394" name="Rectangle 29"/>
          <p:cNvSpPr/>
          <p:nvPr/>
        </p:nvSpPr>
        <p:spPr bwMode="auto">
          <a:xfrm>
            <a:off x="8147304" y="4590288"/>
            <a:ext cx="3026664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0891592" name="TextBox 30"/>
          <p:cNvSpPr txBox="1"/>
          <p:nvPr/>
        </p:nvSpPr>
        <p:spPr bwMode="auto">
          <a:xfrm>
            <a:off x="8147304" y="4718304"/>
            <a:ext cx="3063600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0">
                <a:solidFill>
                  <a:srgbClr val="6B5A44"/>
                </a:solidFill>
              </a:rPr>
              <a:t>Manage bank escrows,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chase documents,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bear legal liability.</a:t>
            </a:r>
            <a:endParaRPr sz="2000"/>
          </a:p>
        </p:txBody>
      </p:sp>
      <p:sp>
        <p:nvSpPr>
          <p:cNvPr id="334586352" name="TextBox 31"/>
          <p:cNvSpPr txBox="1"/>
          <p:nvPr/>
        </p:nvSpPr>
        <p:spPr bwMode="auto">
          <a:xfrm>
            <a:off x="8147304" y="5833872"/>
            <a:ext cx="30636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1">
                <a:solidFill>
                  <a:srgbClr val="8A7A68"/>
                </a:solidFill>
              </a:rPr>
              <a:t>Manual. Outdated. Risky.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4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09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66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3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9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16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00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87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69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18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75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32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78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86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5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9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58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8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055278" name="Rectangle 1"/>
          <p:cNvSpPr/>
          <p:nvPr/>
        </p:nvSpPr>
        <p:spPr bwMode="auto">
          <a:xfrm>
            <a:off x="0" y="0"/>
            <a:ext cx="182880" cy="685800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7358829" name="Rectangle 2"/>
          <p:cNvSpPr/>
          <p:nvPr/>
        </p:nvSpPr>
        <p:spPr bwMode="auto">
          <a:xfrm>
            <a:off x="182880" y="0"/>
            <a:ext cx="12006072" cy="1051560"/>
          </a:xfrm>
          <a:prstGeom prst="rect">
            <a:avLst/>
          </a:prstGeom>
          <a:solidFill>
            <a:srgbClr val="FAF7F2"/>
          </a:solidFill>
          <a:ln w="6350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6305269" name="Rectangle 3"/>
          <p:cNvSpPr/>
          <p:nvPr/>
        </p:nvSpPr>
        <p:spPr bwMode="auto">
          <a:xfrm>
            <a:off x="182880" y="1033271"/>
            <a:ext cx="12006072" cy="4572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79249891" name="Picture 4" descr="edelpacta_log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8" y="82296"/>
            <a:ext cx="804672" cy="886968"/>
          </a:xfrm>
          <a:prstGeom prst="rect">
            <a:avLst/>
          </a:prstGeom>
        </p:spPr>
      </p:pic>
      <p:sp>
        <p:nvSpPr>
          <p:cNvPr id="1397792012" name="TextBox 5"/>
          <p:cNvSpPr txBox="1"/>
          <p:nvPr/>
        </p:nvSpPr>
        <p:spPr bwMode="auto">
          <a:xfrm>
            <a:off x="1325880" y="182880"/>
            <a:ext cx="4572360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600" b="1" i="0" spc="35">
                <a:solidFill>
                  <a:srgbClr val="6B1728"/>
                </a:solidFill>
              </a:rPr>
              <a:t>EDELPACTA</a:t>
            </a:r>
            <a:endParaRPr/>
          </a:p>
        </p:txBody>
      </p:sp>
      <p:sp>
        <p:nvSpPr>
          <p:cNvPr id="101381835" name="TextBox 6"/>
          <p:cNvSpPr txBox="1"/>
          <p:nvPr/>
        </p:nvSpPr>
        <p:spPr bwMode="auto">
          <a:xfrm>
            <a:off x="1325880" y="640080"/>
            <a:ext cx="8229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 spc="18">
                <a:solidFill>
                  <a:srgbClr val="8A7A68"/>
                </a:solidFill>
              </a:rPr>
              <a:t>THE PROBLEM</a:t>
            </a:r>
            <a:endParaRPr sz="1400"/>
          </a:p>
        </p:txBody>
      </p:sp>
      <p:sp>
        <p:nvSpPr>
          <p:cNvPr id="1686687372" name="TextBox 7"/>
          <p:cNvSpPr txBox="1"/>
          <p:nvPr/>
        </p:nvSpPr>
        <p:spPr bwMode="auto">
          <a:xfrm>
            <a:off x="502920" y="1188720"/>
            <a:ext cx="10517040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1A120A"/>
                </a:solidFill>
              </a:rPr>
              <a:t>Buying real estate in Switzerland is archaic</a:t>
            </a:r>
            <a:endParaRPr sz="4000"/>
          </a:p>
        </p:txBody>
      </p:sp>
      <p:sp>
        <p:nvSpPr>
          <p:cNvPr id="429602268" name="Rectangle 8"/>
          <p:cNvSpPr/>
          <p:nvPr/>
        </p:nvSpPr>
        <p:spPr bwMode="auto">
          <a:xfrm>
            <a:off x="502920" y="2194560"/>
            <a:ext cx="10515600" cy="27432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2959265" name="Rectangle 9"/>
          <p:cNvSpPr/>
          <p:nvPr/>
        </p:nvSpPr>
        <p:spPr bwMode="auto">
          <a:xfrm>
            <a:off x="411480" y="2395728"/>
            <a:ext cx="3429000" cy="4133087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7938024" name="Rectangle 10"/>
          <p:cNvSpPr/>
          <p:nvPr/>
        </p:nvSpPr>
        <p:spPr bwMode="auto">
          <a:xfrm>
            <a:off x="411480" y="2395728"/>
            <a:ext cx="3429000" cy="54864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4549536" name="TextBox 11"/>
          <p:cNvSpPr txBox="1"/>
          <p:nvPr/>
        </p:nvSpPr>
        <p:spPr bwMode="auto">
          <a:xfrm>
            <a:off x="612648" y="2523744"/>
            <a:ext cx="640440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6B1728"/>
                </a:solidFill>
              </a:rPr>
              <a:t>1</a:t>
            </a:r>
            <a:endParaRPr/>
          </a:p>
        </p:txBody>
      </p:sp>
      <p:sp>
        <p:nvSpPr>
          <p:cNvPr id="1550181572" name="TextBox 12"/>
          <p:cNvSpPr txBox="1"/>
          <p:nvPr/>
        </p:nvSpPr>
        <p:spPr bwMode="auto">
          <a:xfrm>
            <a:off x="612648" y="3419856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1A120A"/>
                </a:solidFill>
              </a:rPr>
              <a:t>2M CHF Locked</a:t>
            </a:r>
            <a:endParaRPr/>
          </a:p>
        </p:txBody>
      </p:sp>
      <p:sp>
        <p:nvSpPr>
          <p:cNvPr id="2099172955" name="Rectangle 13"/>
          <p:cNvSpPr/>
          <p:nvPr/>
        </p:nvSpPr>
        <p:spPr bwMode="auto">
          <a:xfrm>
            <a:off x="612648" y="4059936"/>
            <a:ext cx="3026664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3333480" name="TextBox 14"/>
          <p:cNvSpPr txBox="1"/>
          <p:nvPr/>
        </p:nvSpPr>
        <p:spPr bwMode="auto">
          <a:xfrm>
            <a:off x="612648" y="420624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0">
                <a:solidFill>
                  <a:srgbClr val="6B5A44"/>
                </a:solidFill>
              </a:rPr>
              <a:t>Massive capital locked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in a notary's bank account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for up to 8 weeks.</a:t>
            </a:r>
            <a:endParaRPr/>
          </a:p>
        </p:txBody>
      </p:sp>
      <p:sp>
        <p:nvSpPr>
          <p:cNvPr id="895849070" name="Rectangle 15"/>
          <p:cNvSpPr/>
          <p:nvPr/>
        </p:nvSpPr>
        <p:spPr bwMode="auto">
          <a:xfrm>
            <a:off x="4178808" y="2395728"/>
            <a:ext cx="3429000" cy="4133087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3126447" name="Rectangle 16"/>
          <p:cNvSpPr/>
          <p:nvPr/>
        </p:nvSpPr>
        <p:spPr bwMode="auto">
          <a:xfrm>
            <a:off x="4178808" y="2395728"/>
            <a:ext cx="3429000" cy="54864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8099873" name="TextBox 17"/>
          <p:cNvSpPr txBox="1"/>
          <p:nvPr/>
        </p:nvSpPr>
        <p:spPr bwMode="auto">
          <a:xfrm>
            <a:off x="4379976" y="2523744"/>
            <a:ext cx="640440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B8963E"/>
                </a:solidFill>
              </a:rPr>
              <a:t>2</a:t>
            </a:r>
            <a:endParaRPr/>
          </a:p>
        </p:txBody>
      </p:sp>
      <p:sp>
        <p:nvSpPr>
          <p:cNvPr id="2026874129" name="TextBox 18"/>
          <p:cNvSpPr txBox="1"/>
          <p:nvPr/>
        </p:nvSpPr>
        <p:spPr bwMode="auto">
          <a:xfrm>
            <a:off x="4379976" y="3419856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1A120A"/>
                </a:solidFill>
              </a:rPr>
              <a:t>1–2% in Fees</a:t>
            </a:r>
            <a:endParaRPr/>
          </a:p>
        </p:txBody>
      </p:sp>
      <p:sp>
        <p:nvSpPr>
          <p:cNvPr id="1056982119" name="Rectangle 19"/>
          <p:cNvSpPr/>
          <p:nvPr/>
        </p:nvSpPr>
        <p:spPr bwMode="auto">
          <a:xfrm>
            <a:off x="4379976" y="4059936"/>
            <a:ext cx="3026664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6114346" name="TextBox 20"/>
          <p:cNvSpPr txBox="1"/>
          <p:nvPr/>
        </p:nvSpPr>
        <p:spPr bwMode="auto">
          <a:xfrm>
            <a:off x="4379976" y="420624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0">
                <a:solidFill>
                  <a:srgbClr val="6B5A44"/>
                </a:solidFill>
              </a:rPr>
              <a:t>Up to CHF 40,000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in notary and banking fees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per transaction.</a:t>
            </a:r>
            <a:endParaRPr/>
          </a:p>
        </p:txBody>
      </p:sp>
      <p:sp>
        <p:nvSpPr>
          <p:cNvPr id="1106325002" name="Rectangle 21"/>
          <p:cNvSpPr/>
          <p:nvPr/>
        </p:nvSpPr>
        <p:spPr bwMode="auto">
          <a:xfrm>
            <a:off x="7946136" y="2395728"/>
            <a:ext cx="3429000" cy="4133087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7231412" name="Rectangle 22"/>
          <p:cNvSpPr/>
          <p:nvPr/>
        </p:nvSpPr>
        <p:spPr bwMode="auto">
          <a:xfrm>
            <a:off x="7946136" y="2395728"/>
            <a:ext cx="3429000" cy="54864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8038092" name="TextBox 23"/>
          <p:cNvSpPr txBox="1"/>
          <p:nvPr/>
        </p:nvSpPr>
        <p:spPr bwMode="auto">
          <a:xfrm>
            <a:off x="8147304" y="2523744"/>
            <a:ext cx="640440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6B1728"/>
                </a:solidFill>
              </a:rPr>
              <a:t>3</a:t>
            </a:r>
            <a:endParaRPr/>
          </a:p>
        </p:txBody>
      </p:sp>
      <p:sp>
        <p:nvSpPr>
          <p:cNvPr id="1233829486" name="TextBox 24"/>
          <p:cNvSpPr txBox="1"/>
          <p:nvPr/>
        </p:nvSpPr>
        <p:spPr bwMode="auto">
          <a:xfrm>
            <a:off x="8147304" y="3419856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1A120A"/>
                </a:solidFill>
              </a:rPr>
              <a:t>Paper-Based KYC</a:t>
            </a:r>
            <a:endParaRPr/>
          </a:p>
        </p:txBody>
      </p:sp>
      <p:sp>
        <p:nvSpPr>
          <p:cNvPr id="2134102792" name="Rectangle 25"/>
          <p:cNvSpPr/>
          <p:nvPr/>
        </p:nvSpPr>
        <p:spPr bwMode="auto">
          <a:xfrm>
            <a:off x="8147304" y="4059936"/>
            <a:ext cx="3026664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0920438" name="TextBox 26"/>
          <p:cNvSpPr txBox="1"/>
          <p:nvPr/>
        </p:nvSpPr>
        <p:spPr bwMode="auto">
          <a:xfrm>
            <a:off x="8147304" y="420624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0">
                <a:solidFill>
                  <a:srgbClr val="6B5A44"/>
                </a:solidFill>
              </a:rPr>
              <a:t>Identity checks still rely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on physical documents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and manual verification.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8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796347" name="Rectangle 1"/>
          <p:cNvSpPr/>
          <p:nvPr/>
        </p:nvSpPr>
        <p:spPr bwMode="auto">
          <a:xfrm>
            <a:off x="0" y="0"/>
            <a:ext cx="182880" cy="685800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541" name="Rectangle 2"/>
          <p:cNvSpPr/>
          <p:nvPr/>
        </p:nvSpPr>
        <p:spPr bwMode="auto">
          <a:xfrm>
            <a:off x="182880" y="0"/>
            <a:ext cx="12006072" cy="1051560"/>
          </a:xfrm>
          <a:prstGeom prst="rect">
            <a:avLst/>
          </a:prstGeom>
          <a:solidFill>
            <a:srgbClr val="FAF7F2"/>
          </a:solidFill>
          <a:ln w="6350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3490463" name="Rectangle 3"/>
          <p:cNvSpPr/>
          <p:nvPr/>
        </p:nvSpPr>
        <p:spPr bwMode="auto">
          <a:xfrm>
            <a:off x="182880" y="1033271"/>
            <a:ext cx="12006072" cy="4572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90793456" name="Picture 4" descr="edelpacta_log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8" y="82296"/>
            <a:ext cx="804672" cy="886968"/>
          </a:xfrm>
          <a:prstGeom prst="rect">
            <a:avLst/>
          </a:prstGeom>
        </p:spPr>
      </p:pic>
      <p:sp>
        <p:nvSpPr>
          <p:cNvPr id="181046323" name="TextBox 5"/>
          <p:cNvSpPr txBox="1"/>
          <p:nvPr/>
        </p:nvSpPr>
        <p:spPr bwMode="auto">
          <a:xfrm>
            <a:off x="1325880" y="182880"/>
            <a:ext cx="4572360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600" b="1" i="0" spc="35">
                <a:solidFill>
                  <a:srgbClr val="6B1728"/>
                </a:solidFill>
              </a:rPr>
              <a:t>EDELPACTA</a:t>
            </a:r>
            <a:endParaRPr/>
          </a:p>
        </p:txBody>
      </p:sp>
      <p:sp>
        <p:nvSpPr>
          <p:cNvPr id="278148528" name="TextBox 6"/>
          <p:cNvSpPr txBox="1"/>
          <p:nvPr/>
        </p:nvSpPr>
        <p:spPr bwMode="auto">
          <a:xfrm>
            <a:off x="1325880" y="640080"/>
            <a:ext cx="8229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 spc="18">
                <a:solidFill>
                  <a:srgbClr val="8A7A68"/>
                </a:solidFill>
              </a:rPr>
              <a:t>HOW IT WORKS — ATOMIC SETTLEMENT</a:t>
            </a:r>
            <a:endParaRPr sz="1400"/>
          </a:p>
        </p:txBody>
      </p:sp>
      <p:sp>
        <p:nvSpPr>
          <p:cNvPr id="268093993" name="TextBox 7"/>
          <p:cNvSpPr txBox="1"/>
          <p:nvPr/>
        </p:nvSpPr>
        <p:spPr bwMode="auto">
          <a:xfrm>
            <a:off x="502920" y="1188720"/>
            <a:ext cx="9144360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1A120A"/>
                </a:solidFill>
              </a:rPr>
              <a:t>Four steps. One atomic transaction.</a:t>
            </a:r>
            <a:endParaRPr sz="4000"/>
          </a:p>
        </p:txBody>
      </p:sp>
      <p:sp>
        <p:nvSpPr>
          <p:cNvPr id="618313214" name="Rectangle 8"/>
          <p:cNvSpPr/>
          <p:nvPr/>
        </p:nvSpPr>
        <p:spPr bwMode="auto">
          <a:xfrm>
            <a:off x="502920" y="2029968"/>
            <a:ext cx="10515600" cy="27432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5410108" name="Rectangle 9"/>
          <p:cNvSpPr/>
          <p:nvPr/>
        </p:nvSpPr>
        <p:spPr bwMode="auto">
          <a:xfrm>
            <a:off x="347472" y="2212848"/>
            <a:ext cx="2633472" cy="4315968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4687800" name="Rectangle 10"/>
          <p:cNvSpPr/>
          <p:nvPr/>
        </p:nvSpPr>
        <p:spPr bwMode="auto">
          <a:xfrm>
            <a:off x="347472" y="2212848"/>
            <a:ext cx="2633472" cy="54864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3296289" name="TextBox 11"/>
          <p:cNvSpPr txBox="1"/>
          <p:nvPr/>
        </p:nvSpPr>
        <p:spPr bwMode="auto">
          <a:xfrm>
            <a:off x="530352" y="2340864"/>
            <a:ext cx="23591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6B1728"/>
                </a:solidFill>
              </a:rPr>
              <a:t>01</a:t>
            </a:r>
            <a:endParaRPr/>
          </a:p>
        </p:txBody>
      </p:sp>
      <p:sp>
        <p:nvSpPr>
          <p:cNvPr id="599243953" name="TextBox 12"/>
          <p:cNvSpPr txBox="1"/>
          <p:nvPr/>
        </p:nvSpPr>
        <p:spPr bwMode="auto">
          <a:xfrm>
            <a:off x="530352" y="3200400"/>
            <a:ext cx="2360232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20A"/>
                </a:solidFill>
              </a:rPr>
              <a:t>The KYC</a:t>
            </a:r>
            <a:endParaRPr sz="2400"/>
          </a:p>
        </p:txBody>
      </p:sp>
      <p:sp>
        <p:nvSpPr>
          <p:cNvPr id="1332101427" name="Rectangle 13"/>
          <p:cNvSpPr/>
          <p:nvPr/>
        </p:nvSpPr>
        <p:spPr bwMode="auto">
          <a:xfrm>
            <a:off x="530352" y="3813048"/>
            <a:ext cx="2267712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383101" name="TextBox 14"/>
          <p:cNvSpPr txBox="1"/>
          <p:nvPr/>
        </p:nvSpPr>
        <p:spPr bwMode="auto">
          <a:xfrm>
            <a:off x="530352" y="3950208"/>
            <a:ext cx="2359152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6B5A44"/>
                </a:solidFill>
              </a:rPr>
              <a:t>The Seller proves compliance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via Swiyu App (eIDAS 2.0).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Oracle generates crypto proof.</a:t>
            </a:r>
            <a:endParaRPr/>
          </a:p>
        </p:txBody>
      </p:sp>
      <p:sp>
        <p:nvSpPr>
          <p:cNvPr id="1306263180" name="TextBox 15"/>
          <p:cNvSpPr txBox="1"/>
          <p:nvPr/>
        </p:nvSpPr>
        <p:spPr bwMode="auto">
          <a:xfrm>
            <a:off x="3054096" y="4572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B8963E"/>
                </a:solidFill>
              </a:rPr>
              <a:t>›</a:t>
            </a:r>
            <a:endParaRPr/>
          </a:p>
        </p:txBody>
      </p:sp>
      <p:sp>
        <p:nvSpPr>
          <p:cNvPr id="2126680762" name="Rectangle 16"/>
          <p:cNvSpPr/>
          <p:nvPr/>
        </p:nvSpPr>
        <p:spPr bwMode="auto">
          <a:xfrm>
            <a:off x="3310127" y="2212848"/>
            <a:ext cx="2633472" cy="4315968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5973813" name="Rectangle 17"/>
          <p:cNvSpPr/>
          <p:nvPr/>
        </p:nvSpPr>
        <p:spPr bwMode="auto">
          <a:xfrm>
            <a:off x="3310127" y="2212848"/>
            <a:ext cx="2633472" cy="54864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9870410" name="TextBox 18"/>
          <p:cNvSpPr txBox="1"/>
          <p:nvPr/>
        </p:nvSpPr>
        <p:spPr bwMode="auto">
          <a:xfrm>
            <a:off x="3493008" y="2340864"/>
            <a:ext cx="23591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B8963E"/>
                </a:solidFill>
              </a:rPr>
              <a:t>02</a:t>
            </a:r>
            <a:endParaRPr/>
          </a:p>
        </p:txBody>
      </p:sp>
      <p:sp>
        <p:nvSpPr>
          <p:cNvPr id="676275691" name="TextBox 19"/>
          <p:cNvSpPr txBox="1"/>
          <p:nvPr/>
        </p:nvSpPr>
        <p:spPr bwMode="auto">
          <a:xfrm>
            <a:off x="3493008" y="3200400"/>
            <a:ext cx="2360232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20A"/>
                </a:solidFill>
              </a:rPr>
              <a:t>The Asset</a:t>
            </a:r>
            <a:endParaRPr sz="2400"/>
          </a:p>
        </p:txBody>
      </p:sp>
      <p:sp>
        <p:nvSpPr>
          <p:cNvPr id="1915574368" name="Rectangle 20"/>
          <p:cNvSpPr/>
          <p:nvPr/>
        </p:nvSpPr>
        <p:spPr bwMode="auto">
          <a:xfrm>
            <a:off x="3493008" y="3813048"/>
            <a:ext cx="2267712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5373486" name="TextBox 21"/>
          <p:cNvSpPr txBox="1"/>
          <p:nvPr/>
        </p:nvSpPr>
        <p:spPr bwMode="auto">
          <a:xfrm>
            <a:off x="3493008" y="3950208"/>
            <a:ext cx="2359152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6B5A44"/>
                </a:solidFill>
              </a:rPr>
              <a:t>The Notary mints the property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as an XLS-20 NFT on XRPL.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Metadata stored on IPFS.</a:t>
            </a:r>
            <a:endParaRPr/>
          </a:p>
        </p:txBody>
      </p:sp>
      <p:sp>
        <p:nvSpPr>
          <p:cNvPr id="1303151000" name="TextBox 22"/>
          <p:cNvSpPr txBox="1"/>
          <p:nvPr/>
        </p:nvSpPr>
        <p:spPr bwMode="auto">
          <a:xfrm>
            <a:off x="6016752" y="4572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B8963E"/>
                </a:solidFill>
              </a:rPr>
              <a:t>›</a:t>
            </a:r>
            <a:endParaRPr/>
          </a:p>
        </p:txBody>
      </p:sp>
      <p:sp>
        <p:nvSpPr>
          <p:cNvPr id="311390910" name="Rectangle 23"/>
          <p:cNvSpPr/>
          <p:nvPr/>
        </p:nvSpPr>
        <p:spPr bwMode="auto">
          <a:xfrm>
            <a:off x="6272783" y="2212848"/>
            <a:ext cx="2633472" cy="4315968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7396649" name="Rectangle 24"/>
          <p:cNvSpPr/>
          <p:nvPr/>
        </p:nvSpPr>
        <p:spPr bwMode="auto">
          <a:xfrm>
            <a:off x="6272783" y="2212848"/>
            <a:ext cx="2633472" cy="54864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4364260" name="TextBox 25"/>
          <p:cNvSpPr txBox="1"/>
          <p:nvPr/>
        </p:nvSpPr>
        <p:spPr bwMode="auto">
          <a:xfrm>
            <a:off x="6455664" y="2340864"/>
            <a:ext cx="23591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6B1728"/>
                </a:solidFill>
              </a:rPr>
              <a:t>03</a:t>
            </a:r>
            <a:endParaRPr/>
          </a:p>
        </p:txBody>
      </p:sp>
      <p:sp>
        <p:nvSpPr>
          <p:cNvPr id="1525929572" name="TextBox 26"/>
          <p:cNvSpPr txBox="1"/>
          <p:nvPr/>
        </p:nvSpPr>
        <p:spPr bwMode="auto">
          <a:xfrm>
            <a:off x="6455664" y="3200400"/>
            <a:ext cx="2360232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20A"/>
                </a:solidFill>
              </a:rPr>
              <a:t>The Escrow</a:t>
            </a:r>
            <a:endParaRPr sz="2400"/>
          </a:p>
        </p:txBody>
      </p:sp>
      <p:sp>
        <p:nvSpPr>
          <p:cNvPr id="1174093979" name="Rectangle 27"/>
          <p:cNvSpPr/>
          <p:nvPr/>
        </p:nvSpPr>
        <p:spPr bwMode="auto">
          <a:xfrm>
            <a:off x="6455664" y="3813048"/>
            <a:ext cx="2267712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4828939" name="TextBox 28"/>
          <p:cNvSpPr txBox="1"/>
          <p:nvPr/>
        </p:nvSpPr>
        <p:spPr bwMode="auto">
          <a:xfrm>
            <a:off x="6455664" y="3950208"/>
            <a:ext cx="2359152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6B5A44"/>
                </a:solidFill>
              </a:rPr>
              <a:t>The Buyer locks 2M CHF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(stablecoin) in a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WASM Smart Escrow.</a:t>
            </a:r>
            <a:endParaRPr/>
          </a:p>
        </p:txBody>
      </p:sp>
      <p:sp>
        <p:nvSpPr>
          <p:cNvPr id="322229886" name="TextBox 29"/>
          <p:cNvSpPr txBox="1"/>
          <p:nvPr/>
        </p:nvSpPr>
        <p:spPr bwMode="auto">
          <a:xfrm>
            <a:off x="8979407" y="4572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B8963E"/>
                </a:solidFill>
              </a:rPr>
              <a:t>›</a:t>
            </a:r>
            <a:endParaRPr/>
          </a:p>
        </p:txBody>
      </p:sp>
      <p:sp>
        <p:nvSpPr>
          <p:cNvPr id="692929674" name="Rectangle 30"/>
          <p:cNvSpPr/>
          <p:nvPr/>
        </p:nvSpPr>
        <p:spPr bwMode="auto">
          <a:xfrm>
            <a:off x="9235440" y="2212848"/>
            <a:ext cx="2633472" cy="4315968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0579134" name="Rectangle 31"/>
          <p:cNvSpPr/>
          <p:nvPr/>
        </p:nvSpPr>
        <p:spPr bwMode="auto">
          <a:xfrm>
            <a:off x="9235440" y="2212848"/>
            <a:ext cx="2633472" cy="54864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3739452" name="TextBox 32"/>
          <p:cNvSpPr txBox="1"/>
          <p:nvPr/>
        </p:nvSpPr>
        <p:spPr bwMode="auto">
          <a:xfrm>
            <a:off x="9418319" y="2340864"/>
            <a:ext cx="23591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B8963E"/>
                </a:solidFill>
              </a:rPr>
              <a:t>04</a:t>
            </a:r>
            <a:endParaRPr/>
          </a:p>
        </p:txBody>
      </p:sp>
      <p:sp>
        <p:nvSpPr>
          <p:cNvPr id="497198916" name="TextBox 33"/>
          <p:cNvSpPr txBox="1"/>
          <p:nvPr/>
        </p:nvSpPr>
        <p:spPr bwMode="auto">
          <a:xfrm>
            <a:off x="9418318" y="3200400"/>
            <a:ext cx="2360232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20A"/>
                </a:solidFill>
              </a:rPr>
              <a:t>The Execution</a:t>
            </a:r>
            <a:endParaRPr sz="2400"/>
          </a:p>
        </p:txBody>
      </p:sp>
      <p:sp>
        <p:nvSpPr>
          <p:cNvPr id="1094242283" name="Rectangle 34"/>
          <p:cNvSpPr/>
          <p:nvPr/>
        </p:nvSpPr>
        <p:spPr bwMode="auto">
          <a:xfrm>
            <a:off x="9418319" y="3813048"/>
            <a:ext cx="2267712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7077709" name="TextBox 35"/>
          <p:cNvSpPr txBox="1"/>
          <p:nvPr/>
        </p:nvSpPr>
        <p:spPr bwMode="auto">
          <a:xfrm>
            <a:off x="9418319" y="3950208"/>
            <a:ext cx="2359152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6B5A44"/>
                </a:solidFill>
              </a:rPr>
              <a:t>Notary signs final approval.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WASM Hook verifies signatures.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NFT and funds swap atomically.</a:t>
            </a:r>
            <a:endParaRPr/>
          </a:p>
        </p:txBody>
      </p:sp>
      <p:sp>
        <p:nvSpPr>
          <p:cNvPr id="1503847169" name="TextBox 37"/>
          <p:cNvSpPr txBox="1"/>
          <p:nvPr/>
        </p:nvSpPr>
        <p:spPr bwMode="auto">
          <a:xfrm>
            <a:off x="502920" y="6598522"/>
            <a:ext cx="1097352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8A7A68"/>
                </a:solidFill>
              </a:rPr>
              <a:t>If any condition fails, the Hook triggers a rollback(). Zero counterparty risk.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68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97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7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57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37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9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3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36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09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82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92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3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19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24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7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8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941665" name="Rectangle 1"/>
          <p:cNvSpPr/>
          <p:nvPr/>
        </p:nvSpPr>
        <p:spPr bwMode="auto">
          <a:xfrm>
            <a:off x="0" y="0"/>
            <a:ext cx="182880" cy="685800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3345703" name="Rectangle 2"/>
          <p:cNvSpPr/>
          <p:nvPr/>
        </p:nvSpPr>
        <p:spPr bwMode="auto">
          <a:xfrm>
            <a:off x="182880" y="0"/>
            <a:ext cx="12006072" cy="1051560"/>
          </a:xfrm>
          <a:prstGeom prst="rect">
            <a:avLst/>
          </a:prstGeom>
          <a:solidFill>
            <a:srgbClr val="FAF7F2"/>
          </a:solidFill>
          <a:ln w="6350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7156850" name="Rectangle 3"/>
          <p:cNvSpPr/>
          <p:nvPr/>
        </p:nvSpPr>
        <p:spPr bwMode="auto">
          <a:xfrm>
            <a:off x="182880" y="1033271"/>
            <a:ext cx="12006072" cy="4572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46782433" name="Picture 4" descr="edelpacta_log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8" y="82296"/>
            <a:ext cx="804672" cy="886968"/>
          </a:xfrm>
          <a:prstGeom prst="rect">
            <a:avLst/>
          </a:prstGeom>
        </p:spPr>
      </p:pic>
      <p:sp>
        <p:nvSpPr>
          <p:cNvPr id="1899036483" name="TextBox 5"/>
          <p:cNvSpPr txBox="1"/>
          <p:nvPr/>
        </p:nvSpPr>
        <p:spPr bwMode="auto">
          <a:xfrm>
            <a:off x="1325880" y="182880"/>
            <a:ext cx="4572360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600" b="1" i="0" spc="35">
                <a:solidFill>
                  <a:srgbClr val="6B1728"/>
                </a:solidFill>
              </a:rPr>
              <a:t>EDELPACTA</a:t>
            </a:r>
            <a:endParaRPr/>
          </a:p>
        </p:txBody>
      </p:sp>
      <p:sp>
        <p:nvSpPr>
          <p:cNvPr id="492253505" name="TextBox 6"/>
          <p:cNvSpPr txBox="1"/>
          <p:nvPr/>
        </p:nvSpPr>
        <p:spPr bwMode="auto">
          <a:xfrm>
            <a:off x="1325880" y="640080"/>
            <a:ext cx="8229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 spc="18">
                <a:solidFill>
                  <a:srgbClr val="8A7A68"/>
                </a:solidFill>
              </a:rPr>
              <a:t>TECH STACK</a:t>
            </a:r>
            <a:endParaRPr sz="1400"/>
          </a:p>
        </p:txBody>
      </p:sp>
      <p:sp>
        <p:nvSpPr>
          <p:cNvPr id="1667699977" name="TextBox 7"/>
          <p:cNvSpPr txBox="1"/>
          <p:nvPr/>
        </p:nvSpPr>
        <p:spPr bwMode="auto">
          <a:xfrm>
            <a:off x="502920" y="1188720"/>
            <a:ext cx="8686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1A120A"/>
                </a:solidFill>
              </a:rPr>
              <a:t>Built on open standards,</a:t>
            </a:r>
            <a:br>
              <a:rPr sz="4000" b="1" i="0">
                <a:solidFill>
                  <a:srgbClr val="1A120A"/>
                </a:solidFill>
              </a:rPr>
            </a:br>
            <a:r>
              <a:rPr sz="4000" b="1" i="0">
                <a:solidFill>
                  <a:srgbClr val="1A120A"/>
                </a:solidFill>
              </a:rPr>
              <a:t>powered by XRPL</a:t>
            </a:r>
            <a:endParaRPr/>
          </a:p>
        </p:txBody>
      </p:sp>
      <p:sp>
        <p:nvSpPr>
          <p:cNvPr id="1185793419" name="Rectangle 8"/>
          <p:cNvSpPr/>
          <p:nvPr/>
        </p:nvSpPr>
        <p:spPr bwMode="auto">
          <a:xfrm>
            <a:off x="502920" y="2714576"/>
            <a:ext cx="10515600" cy="27432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1773133" name="Rectangle 9"/>
          <p:cNvSpPr/>
          <p:nvPr/>
        </p:nvSpPr>
        <p:spPr bwMode="auto">
          <a:xfrm flipH="0" flipV="0">
            <a:off x="347472" y="3039252"/>
            <a:ext cx="3566160" cy="1611187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4961692" name="Rectangle 10"/>
          <p:cNvSpPr/>
          <p:nvPr/>
        </p:nvSpPr>
        <p:spPr bwMode="auto">
          <a:xfrm flipH="0" flipV="0">
            <a:off x="347471" y="3039252"/>
            <a:ext cx="73152" cy="1611187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9662601" name="TextBox 11"/>
          <p:cNvSpPr txBox="1"/>
          <p:nvPr/>
        </p:nvSpPr>
        <p:spPr bwMode="auto">
          <a:xfrm>
            <a:off x="548640" y="320384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6B1728"/>
                </a:solidFill>
              </a:rPr>
              <a:t>Blockchain</a:t>
            </a:r>
            <a:endParaRPr/>
          </a:p>
        </p:txBody>
      </p:sp>
      <p:sp>
        <p:nvSpPr>
          <p:cNvPr id="381597614" name="Rectangle 12"/>
          <p:cNvSpPr/>
          <p:nvPr/>
        </p:nvSpPr>
        <p:spPr bwMode="auto">
          <a:xfrm>
            <a:off x="548640" y="3789059"/>
            <a:ext cx="3291840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5427100" name="TextBox 13"/>
          <p:cNvSpPr txBox="1"/>
          <p:nvPr/>
        </p:nvSpPr>
        <p:spPr bwMode="auto">
          <a:xfrm>
            <a:off x="548640" y="3935364"/>
            <a:ext cx="32918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6B5A44"/>
                </a:solidFill>
              </a:rPr>
              <a:t>XRP Ledger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wasm.devnet.rippletest.net</a:t>
            </a:r>
            <a:endParaRPr/>
          </a:p>
        </p:txBody>
      </p:sp>
      <p:sp>
        <p:nvSpPr>
          <p:cNvPr id="898090111" name="Rectangle 14"/>
          <p:cNvSpPr/>
          <p:nvPr/>
        </p:nvSpPr>
        <p:spPr bwMode="auto">
          <a:xfrm flipH="0" flipV="0">
            <a:off x="4169662" y="3039252"/>
            <a:ext cx="3566160" cy="1611187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200791" name="Rectangle 15"/>
          <p:cNvSpPr/>
          <p:nvPr/>
        </p:nvSpPr>
        <p:spPr bwMode="auto">
          <a:xfrm flipH="0" flipV="0">
            <a:off x="4169662" y="3039252"/>
            <a:ext cx="73152" cy="1611187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7547707" name="TextBox 16"/>
          <p:cNvSpPr txBox="1"/>
          <p:nvPr/>
        </p:nvSpPr>
        <p:spPr bwMode="auto">
          <a:xfrm>
            <a:off x="4370830" y="320384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B8963E"/>
                </a:solidFill>
              </a:rPr>
              <a:t>Smart Contracts</a:t>
            </a:r>
            <a:endParaRPr/>
          </a:p>
        </p:txBody>
      </p:sp>
      <p:sp>
        <p:nvSpPr>
          <p:cNvPr id="395032946" name="Rectangle 17"/>
          <p:cNvSpPr/>
          <p:nvPr/>
        </p:nvSpPr>
        <p:spPr bwMode="auto">
          <a:xfrm>
            <a:off x="4370830" y="3789059"/>
            <a:ext cx="3291840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9594688" name="TextBox 18"/>
          <p:cNvSpPr txBox="1"/>
          <p:nvPr/>
        </p:nvSpPr>
        <p:spPr bwMode="auto">
          <a:xfrm>
            <a:off x="4370830" y="3935364"/>
            <a:ext cx="32918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6B5A44"/>
                </a:solidFill>
              </a:rPr>
              <a:t>WASM Hooks in Rust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xrpl-wasm-stdlib</a:t>
            </a:r>
            <a:endParaRPr/>
          </a:p>
        </p:txBody>
      </p:sp>
      <p:sp>
        <p:nvSpPr>
          <p:cNvPr id="1930111756" name="Rectangle 19"/>
          <p:cNvSpPr/>
          <p:nvPr/>
        </p:nvSpPr>
        <p:spPr bwMode="auto">
          <a:xfrm flipH="0" flipV="0">
            <a:off x="7991856" y="3039252"/>
            <a:ext cx="3566160" cy="1611187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6755473" name="Rectangle 20"/>
          <p:cNvSpPr/>
          <p:nvPr/>
        </p:nvSpPr>
        <p:spPr bwMode="auto">
          <a:xfrm flipH="0" flipV="0">
            <a:off x="7991856" y="3039252"/>
            <a:ext cx="73152" cy="1611187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8493106" name="TextBox 21"/>
          <p:cNvSpPr txBox="1"/>
          <p:nvPr/>
        </p:nvSpPr>
        <p:spPr bwMode="auto">
          <a:xfrm>
            <a:off x="8193024" y="320384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6B1728"/>
                </a:solidFill>
              </a:rPr>
              <a:t>Identity</a:t>
            </a:r>
            <a:endParaRPr/>
          </a:p>
        </p:txBody>
      </p:sp>
      <p:sp>
        <p:nvSpPr>
          <p:cNvPr id="1397666508" name="Rectangle 22"/>
          <p:cNvSpPr/>
          <p:nvPr/>
        </p:nvSpPr>
        <p:spPr bwMode="auto">
          <a:xfrm>
            <a:off x="8193024" y="3789059"/>
            <a:ext cx="3291840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6802004" name="TextBox 23"/>
          <p:cNvSpPr txBox="1"/>
          <p:nvPr/>
        </p:nvSpPr>
        <p:spPr bwMode="auto">
          <a:xfrm>
            <a:off x="8193024" y="3935364"/>
            <a:ext cx="32918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6B5A44"/>
                </a:solidFill>
              </a:rPr>
              <a:t>Swiyu — Swiss Gov e-ID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SD-JWT / eIDAS 2.0</a:t>
            </a:r>
            <a:endParaRPr/>
          </a:p>
        </p:txBody>
      </p:sp>
      <p:sp>
        <p:nvSpPr>
          <p:cNvPr id="2121103441" name="Rectangle 24"/>
          <p:cNvSpPr/>
          <p:nvPr/>
        </p:nvSpPr>
        <p:spPr bwMode="auto">
          <a:xfrm flipH="0" flipV="0">
            <a:off x="347472" y="4978843"/>
            <a:ext cx="3566160" cy="1616618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8058912" name="Rectangle 25"/>
          <p:cNvSpPr/>
          <p:nvPr/>
        </p:nvSpPr>
        <p:spPr bwMode="auto">
          <a:xfrm flipH="0" flipV="0">
            <a:off x="347471" y="4978843"/>
            <a:ext cx="73152" cy="1616618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85975" name="TextBox 26"/>
          <p:cNvSpPr txBox="1"/>
          <p:nvPr/>
        </p:nvSpPr>
        <p:spPr bwMode="auto">
          <a:xfrm>
            <a:off x="548640" y="5143435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B8963E"/>
                </a:solidFill>
              </a:rPr>
              <a:t>Oracle</a:t>
            </a:r>
            <a:endParaRPr/>
          </a:p>
        </p:txBody>
      </p:sp>
      <p:sp>
        <p:nvSpPr>
          <p:cNvPr id="1723548100" name="Rectangle 27"/>
          <p:cNvSpPr/>
          <p:nvPr/>
        </p:nvSpPr>
        <p:spPr bwMode="auto">
          <a:xfrm>
            <a:off x="548640" y="5728651"/>
            <a:ext cx="3291840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6941479" name="TextBox 28"/>
          <p:cNvSpPr txBox="1"/>
          <p:nvPr/>
        </p:nvSpPr>
        <p:spPr bwMode="auto">
          <a:xfrm>
            <a:off x="548640" y="5794913"/>
            <a:ext cx="32918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6B5A44"/>
                </a:solidFill>
              </a:rPr>
              <a:t>TypeScript backend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Dual cryptographic signature</a:t>
            </a:r>
            <a:endParaRPr/>
          </a:p>
        </p:txBody>
      </p:sp>
      <p:sp>
        <p:nvSpPr>
          <p:cNvPr id="1895565897" name="Rectangle 29"/>
          <p:cNvSpPr/>
          <p:nvPr/>
        </p:nvSpPr>
        <p:spPr bwMode="auto">
          <a:xfrm flipH="0" flipV="0">
            <a:off x="4169662" y="4978843"/>
            <a:ext cx="3566160" cy="1616618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8659283" name="Rectangle 30"/>
          <p:cNvSpPr/>
          <p:nvPr/>
        </p:nvSpPr>
        <p:spPr bwMode="auto">
          <a:xfrm flipH="0" flipV="0">
            <a:off x="4169662" y="4978843"/>
            <a:ext cx="73152" cy="1616618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399615" name="TextBox 31"/>
          <p:cNvSpPr txBox="1"/>
          <p:nvPr/>
        </p:nvSpPr>
        <p:spPr bwMode="auto">
          <a:xfrm>
            <a:off x="4370830" y="5143435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6B1728"/>
                </a:solidFill>
              </a:rPr>
              <a:t>Assets</a:t>
            </a:r>
            <a:endParaRPr/>
          </a:p>
        </p:txBody>
      </p:sp>
      <p:sp>
        <p:nvSpPr>
          <p:cNvPr id="1467155030" name="Rectangle 32"/>
          <p:cNvSpPr/>
          <p:nvPr/>
        </p:nvSpPr>
        <p:spPr bwMode="auto">
          <a:xfrm>
            <a:off x="4370830" y="5728651"/>
            <a:ext cx="3291840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1009509" name="TextBox 33"/>
          <p:cNvSpPr txBox="1"/>
          <p:nvPr/>
        </p:nvSpPr>
        <p:spPr bwMode="auto">
          <a:xfrm>
            <a:off x="4370830" y="5794913"/>
            <a:ext cx="32918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6B5A44"/>
                </a:solidFill>
              </a:rPr>
              <a:t>XLS-20 NFTs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IPFS metadata (Kubo)</a:t>
            </a:r>
            <a:endParaRPr/>
          </a:p>
        </p:txBody>
      </p:sp>
      <p:sp>
        <p:nvSpPr>
          <p:cNvPr id="1037722985" name="Rectangle 34"/>
          <p:cNvSpPr/>
          <p:nvPr/>
        </p:nvSpPr>
        <p:spPr bwMode="auto">
          <a:xfrm flipH="0" flipV="0">
            <a:off x="7991856" y="4978843"/>
            <a:ext cx="3566160" cy="1616618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7413748" name="Rectangle 35"/>
          <p:cNvSpPr/>
          <p:nvPr/>
        </p:nvSpPr>
        <p:spPr bwMode="auto">
          <a:xfrm flipH="0" flipV="0">
            <a:off x="7991856" y="4978843"/>
            <a:ext cx="73152" cy="1616618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6756106" name="TextBox 36"/>
          <p:cNvSpPr txBox="1"/>
          <p:nvPr/>
        </p:nvSpPr>
        <p:spPr bwMode="auto">
          <a:xfrm>
            <a:off x="8193024" y="5143435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B8963E"/>
                </a:solidFill>
              </a:rPr>
              <a:t>Frontend</a:t>
            </a:r>
            <a:endParaRPr/>
          </a:p>
        </p:txBody>
      </p:sp>
      <p:sp>
        <p:nvSpPr>
          <p:cNvPr id="2134269829" name="Rectangle 37"/>
          <p:cNvSpPr/>
          <p:nvPr/>
        </p:nvSpPr>
        <p:spPr bwMode="auto">
          <a:xfrm>
            <a:off x="8193024" y="5728651"/>
            <a:ext cx="3291840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8451696" name="TextBox 38"/>
          <p:cNvSpPr txBox="1"/>
          <p:nvPr/>
        </p:nvSpPr>
        <p:spPr bwMode="auto">
          <a:xfrm>
            <a:off x="8193024" y="5794913"/>
            <a:ext cx="32918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6B5A44"/>
                </a:solidFill>
              </a:rPr>
              <a:t>React.js + xrpl.js</a:t>
            </a:r>
            <a:br>
              <a:rPr sz="1500" b="0" i="0">
                <a:solidFill>
                  <a:srgbClr val="6B5A44"/>
                </a:solidFill>
              </a:rPr>
            </a:br>
            <a:r>
              <a:rPr sz="1500" b="0" i="0">
                <a:solidFill>
                  <a:srgbClr val="6B5A44"/>
                </a:solidFill>
              </a:rPr>
              <a:t>Otsu Wallet (zero-trust)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1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05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54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94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5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65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9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15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0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72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41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75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26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45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8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594108" name="Rectangle 1"/>
          <p:cNvSpPr/>
          <p:nvPr/>
        </p:nvSpPr>
        <p:spPr bwMode="auto">
          <a:xfrm>
            <a:off x="0" y="0"/>
            <a:ext cx="182880" cy="685800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5947551" name="Rectangle 2"/>
          <p:cNvSpPr/>
          <p:nvPr/>
        </p:nvSpPr>
        <p:spPr bwMode="auto">
          <a:xfrm>
            <a:off x="182880" y="0"/>
            <a:ext cx="12006072" cy="1051560"/>
          </a:xfrm>
          <a:prstGeom prst="rect">
            <a:avLst/>
          </a:prstGeom>
          <a:solidFill>
            <a:srgbClr val="FAF7F2"/>
          </a:solidFill>
          <a:ln w="6350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168918" name="Rectangle 3"/>
          <p:cNvSpPr/>
          <p:nvPr/>
        </p:nvSpPr>
        <p:spPr bwMode="auto">
          <a:xfrm>
            <a:off x="182880" y="1033271"/>
            <a:ext cx="12006072" cy="4572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88305325" name="Picture 4" descr="edelpacta_log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8" y="82296"/>
            <a:ext cx="804672" cy="886968"/>
          </a:xfrm>
          <a:prstGeom prst="rect">
            <a:avLst/>
          </a:prstGeom>
        </p:spPr>
      </p:pic>
      <p:sp>
        <p:nvSpPr>
          <p:cNvPr id="628253164" name="TextBox 5"/>
          <p:cNvSpPr txBox="1"/>
          <p:nvPr/>
        </p:nvSpPr>
        <p:spPr bwMode="auto">
          <a:xfrm>
            <a:off x="1325880" y="182880"/>
            <a:ext cx="4572360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600" b="1" i="0" spc="35">
                <a:solidFill>
                  <a:srgbClr val="6B1728"/>
                </a:solidFill>
              </a:rPr>
              <a:t>EDELPACTA</a:t>
            </a:r>
            <a:endParaRPr/>
          </a:p>
        </p:txBody>
      </p:sp>
      <p:sp>
        <p:nvSpPr>
          <p:cNvPr id="1898517426" name="TextBox 6"/>
          <p:cNvSpPr txBox="1"/>
          <p:nvPr/>
        </p:nvSpPr>
        <p:spPr bwMode="auto">
          <a:xfrm>
            <a:off x="1325880" y="640080"/>
            <a:ext cx="8229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 spc="18">
                <a:solidFill>
                  <a:srgbClr val="8A7A68"/>
                </a:solidFill>
              </a:rPr>
              <a:t>IMPACT</a:t>
            </a:r>
            <a:endParaRPr/>
          </a:p>
        </p:txBody>
      </p:sp>
      <p:sp>
        <p:nvSpPr>
          <p:cNvPr id="1922189195" name="TextBox 7"/>
          <p:cNvSpPr txBox="1"/>
          <p:nvPr/>
        </p:nvSpPr>
        <p:spPr bwMode="auto">
          <a:xfrm>
            <a:off x="502920" y="1188720"/>
            <a:ext cx="10058759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1A120A"/>
                </a:solidFill>
              </a:rPr>
              <a:t>The numbers speak for themselves</a:t>
            </a:r>
            <a:endParaRPr sz="4000"/>
          </a:p>
        </p:txBody>
      </p:sp>
      <p:sp>
        <p:nvSpPr>
          <p:cNvPr id="861459243" name="Rectangle 8"/>
          <p:cNvSpPr/>
          <p:nvPr/>
        </p:nvSpPr>
        <p:spPr bwMode="auto">
          <a:xfrm>
            <a:off x="502920" y="1949925"/>
            <a:ext cx="10515600" cy="27432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348067" name="Rectangle 9"/>
          <p:cNvSpPr/>
          <p:nvPr/>
        </p:nvSpPr>
        <p:spPr bwMode="auto">
          <a:xfrm>
            <a:off x="411480" y="2212848"/>
            <a:ext cx="3429000" cy="4315968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6377251" name="Rectangle 10"/>
          <p:cNvSpPr/>
          <p:nvPr/>
        </p:nvSpPr>
        <p:spPr bwMode="auto">
          <a:xfrm>
            <a:off x="411480" y="2212848"/>
            <a:ext cx="3429000" cy="54864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622537" name="TextBox 11"/>
          <p:cNvSpPr txBox="1"/>
          <p:nvPr/>
        </p:nvSpPr>
        <p:spPr bwMode="auto">
          <a:xfrm>
            <a:off x="594360" y="2340864"/>
            <a:ext cx="315648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 spc="18">
                <a:solidFill>
                  <a:srgbClr val="6B1728"/>
                </a:solidFill>
              </a:rPr>
              <a:t>COST</a:t>
            </a:r>
            <a:endParaRPr sz="2800"/>
          </a:p>
        </p:txBody>
      </p:sp>
      <p:sp>
        <p:nvSpPr>
          <p:cNvPr id="127041699" name="Rectangle 12"/>
          <p:cNvSpPr/>
          <p:nvPr/>
        </p:nvSpPr>
        <p:spPr bwMode="auto">
          <a:xfrm>
            <a:off x="548640" y="2798064"/>
            <a:ext cx="3154680" cy="1078992"/>
          </a:xfrm>
          <a:prstGeom prst="rect">
            <a:avLst/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4473271" name="TextBox 13"/>
          <p:cNvSpPr txBox="1"/>
          <p:nvPr/>
        </p:nvSpPr>
        <p:spPr bwMode="auto">
          <a:xfrm>
            <a:off x="640080" y="2834639"/>
            <a:ext cx="29728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 spc="15">
                <a:solidFill>
                  <a:srgbClr val="8A7A68"/>
                </a:solidFill>
              </a:rPr>
              <a:t>BEFORE</a:t>
            </a:r>
            <a:endParaRPr sz="2400"/>
          </a:p>
        </p:txBody>
      </p:sp>
      <p:sp>
        <p:nvSpPr>
          <p:cNvPr id="116284774" name="TextBox 14"/>
          <p:cNvSpPr txBox="1"/>
          <p:nvPr/>
        </p:nvSpPr>
        <p:spPr bwMode="auto">
          <a:xfrm>
            <a:off x="640080" y="3090672"/>
            <a:ext cx="2972519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0" i="0">
                <a:solidFill>
                  <a:srgbClr val="8A7A68"/>
                </a:solidFill>
              </a:rPr>
              <a:t>CHF 20,000</a:t>
            </a:r>
            <a:endParaRPr sz="2200"/>
          </a:p>
        </p:txBody>
      </p:sp>
      <p:sp>
        <p:nvSpPr>
          <p:cNvPr id="369805709" name="TextBox 15"/>
          <p:cNvSpPr txBox="1"/>
          <p:nvPr/>
        </p:nvSpPr>
        <p:spPr bwMode="auto">
          <a:xfrm>
            <a:off x="411480" y="39319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6B1728"/>
                </a:solidFill>
              </a:rPr>
              <a:t>↓</a:t>
            </a:r>
            <a:endParaRPr/>
          </a:p>
        </p:txBody>
      </p:sp>
      <p:sp>
        <p:nvSpPr>
          <p:cNvPr id="1086850867" name="Rectangle 16"/>
          <p:cNvSpPr/>
          <p:nvPr/>
        </p:nvSpPr>
        <p:spPr bwMode="auto">
          <a:xfrm>
            <a:off x="548640" y="4462272"/>
            <a:ext cx="3154680" cy="132588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2461832" name="TextBox 17"/>
          <p:cNvSpPr txBox="1"/>
          <p:nvPr/>
        </p:nvSpPr>
        <p:spPr bwMode="auto">
          <a:xfrm>
            <a:off x="640080" y="4507992"/>
            <a:ext cx="29728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 spc="15">
                <a:solidFill>
                  <a:srgbClr val="FAF7F2"/>
                </a:solidFill>
              </a:rPr>
              <a:t>EDELPACTA</a:t>
            </a:r>
            <a:endParaRPr sz="2400"/>
          </a:p>
        </p:txBody>
      </p:sp>
      <p:sp>
        <p:nvSpPr>
          <p:cNvPr id="1161545105" name="TextBox 18"/>
          <p:cNvSpPr txBox="1"/>
          <p:nvPr/>
        </p:nvSpPr>
        <p:spPr bwMode="auto">
          <a:xfrm>
            <a:off x="640080" y="4773168"/>
            <a:ext cx="2971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FAF7F2"/>
                </a:solidFill>
              </a:rPr>
              <a:t>&lt; CHF 0.01</a:t>
            </a:r>
            <a:endParaRPr/>
          </a:p>
        </p:txBody>
      </p:sp>
      <p:sp>
        <p:nvSpPr>
          <p:cNvPr id="152858472" name="Rectangle 19"/>
          <p:cNvSpPr/>
          <p:nvPr/>
        </p:nvSpPr>
        <p:spPr bwMode="auto">
          <a:xfrm>
            <a:off x="594360" y="5888736"/>
            <a:ext cx="3063240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8735423" name="TextBox 20"/>
          <p:cNvSpPr txBox="1"/>
          <p:nvPr/>
        </p:nvSpPr>
        <p:spPr bwMode="auto">
          <a:xfrm>
            <a:off x="594360" y="6007607"/>
            <a:ext cx="31554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7A68"/>
                </a:solidFill>
              </a:rPr>
              <a:t>Per transaction</a:t>
            </a:r>
            <a:endParaRPr sz="2200"/>
          </a:p>
        </p:txBody>
      </p:sp>
      <p:sp>
        <p:nvSpPr>
          <p:cNvPr id="832829017" name="Rectangle 21"/>
          <p:cNvSpPr/>
          <p:nvPr/>
        </p:nvSpPr>
        <p:spPr bwMode="auto">
          <a:xfrm>
            <a:off x="4178808" y="2212848"/>
            <a:ext cx="3429000" cy="4315968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3982240" name="Rectangle 22"/>
          <p:cNvSpPr/>
          <p:nvPr/>
        </p:nvSpPr>
        <p:spPr bwMode="auto">
          <a:xfrm>
            <a:off x="4178808" y="2212848"/>
            <a:ext cx="3429000" cy="54864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4420081" name="TextBox 23"/>
          <p:cNvSpPr txBox="1"/>
          <p:nvPr/>
        </p:nvSpPr>
        <p:spPr bwMode="auto">
          <a:xfrm>
            <a:off x="4361688" y="2340864"/>
            <a:ext cx="315648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 spc="18">
                <a:solidFill>
                  <a:srgbClr val="B8963E"/>
                </a:solidFill>
              </a:rPr>
              <a:t>SPEED</a:t>
            </a:r>
            <a:endParaRPr sz="2800"/>
          </a:p>
        </p:txBody>
      </p:sp>
      <p:sp>
        <p:nvSpPr>
          <p:cNvPr id="1834903743" name="Rectangle 24"/>
          <p:cNvSpPr/>
          <p:nvPr/>
        </p:nvSpPr>
        <p:spPr bwMode="auto">
          <a:xfrm>
            <a:off x="4315968" y="2798064"/>
            <a:ext cx="3154680" cy="1078992"/>
          </a:xfrm>
          <a:prstGeom prst="rect">
            <a:avLst/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5701716" name="TextBox 25"/>
          <p:cNvSpPr txBox="1"/>
          <p:nvPr/>
        </p:nvSpPr>
        <p:spPr bwMode="auto">
          <a:xfrm>
            <a:off x="4407408" y="2834639"/>
            <a:ext cx="29728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 spc="15">
                <a:solidFill>
                  <a:srgbClr val="8A7A68"/>
                </a:solidFill>
              </a:rPr>
              <a:t>BEFORE</a:t>
            </a:r>
            <a:endParaRPr sz="2400"/>
          </a:p>
        </p:txBody>
      </p:sp>
      <p:sp>
        <p:nvSpPr>
          <p:cNvPr id="1647626467" name="TextBox 26"/>
          <p:cNvSpPr txBox="1"/>
          <p:nvPr/>
        </p:nvSpPr>
        <p:spPr bwMode="auto">
          <a:xfrm>
            <a:off x="4407408" y="3090672"/>
            <a:ext cx="2972519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0" i="0">
                <a:solidFill>
                  <a:srgbClr val="8A7A68"/>
                </a:solidFill>
              </a:rPr>
              <a:t>8 weeks</a:t>
            </a:r>
            <a:endParaRPr sz="2200"/>
          </a:p>
        </p:txBody>
      </p:sp>
      <p:sp>
        <p:nvSpPr>
          <p:cNvPr id="91623120" name="TextBox 27"/>
          <p:cNvSpPr txBox="1"/>
          <p:nvPr/>
        </p:nvSpPr>
        <p:spPr bwMode="auto">
          <a:xfrm>
            <a:off x="4178808" y="39319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B8963E"/>
                </a:solidFill>
              </a:rPr>
              <a:t>↓</a:t>
            </a:r>
            <a:endParaRPr/>
          </a:p>
        </p:txBody>
      </p:sp>
      <p:sp>
        <p:nvSpPr>
          <p:cNvPr id="28880474" name="Rectangle 28"/>
          <p:cNvSpPr/>
          <p:nvPr/>
        </p:nvSpPr>
        <p:spPr bwMode="auto">
          <a:xfrm>
            <a:off x="4315968" y="4462272"/>
            <a:ext cx="3154680" cy="132588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121656" name="TextBox 29"/>
          <p:cNvSpPr txBox="1"/>
          <p:nvPr/>
        </p:nvSpPr>
        <p:spPr bwMode="auto">
          <a:xfrm>
            <a:off x="4407408" y="4507992"/>
            <a:ext cx="29728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 spc="15">
                <a:solidFill>
                  <a:srgbClr val="FAF7F2"/>
                </a:solidFill>
              </a:rPr>
              <a:t>EDELPACTA</a:t>
            </a:r>
            <a:endParaRPr sz="2400"/>
          </a:p>
        </p:txBody>
      </p:sp>
      <p:sp>
        <p:nvSpPr>
          <p:cNvPr id="502803468" name="TextBox 30"/>
          <p:cNvSpPr txBox="1"/>
          <p:nvPr/>
        </p:nvSpPr>
        <p:spPr bwMode="auto">
          <a:xfrm>
            <a:off x="4407408" y="4773168"/>
            <a:ext cx="2971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FAF7F2"/>
                </a:solidFill>
              </a:rPr>
              <a:t>3 seconds</a:t>
            </a:r>
            <a:endParaRPr/>
          </a:p>
        </p:txBody>
      </p:sp>
      <p:sp>
        <p:nvSpPr>
          <p:cNvPr id="1849035335" name="Rectangle 31"/>
          <p:cNvSpPr/>
          <p:nvPr/>
        </p:nvSpPr>
        <p:spPr bwMode="auto">
          <a:xfrm>
            <a:off x="4361688" y="5888736"/>
            <a:ext cx="3063240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7364935" name="TextBox 32"/>
          <p:cNvSpPr txBox="1"/>
          <p:nvPr/>
        </p:nvSpPr>
        <p:spPr bwMode="auto">
          <a:xfrm>
            <a:off x="4361688" y="6007607"/>
            <a:ext cx="31554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7A68"/>
                </a:solidFill>
              </a:rPr>
              <a:t>Settlement time</a:t>
            </a:r>
            <a:endParaRPr sz="2200"/>
          </a:p>
        </p:txBody>
      </p:sp>
      <p:sp>
        <p:nvSpPr>
          <p:cNvPr id="1224225719" name="Rectangle 33"/>
          <p:cNvSpPr/>
          <p:nvPr/>
        </p:nvSpPr>
        <p:spPr bwMode="auto">
          <a:xfrm>
            <a:off x="7946136" y="2212848"/>
            <a:ext cx="3429000" cy="4315968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3181856" name="Rectangle 34"/>
          <p:cNvSpPr/>
          <p:nvPr/>
        </p:nvSpPr>
        <p:spPr bwMode="auto">
          <a:xfrm>
            <a:off x="7946136" y="2212848"/>
            <a:ext cx="3429000" cy="54864"/>
          </a:xfrm>
          <a:prstGeom prst="rect">
            <a:avLst/>
          </a:prstGeom>
          <a:solidFill>
            <a:srgbClr val="4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5981002" name="TextBox 35"/>
          <p:cNvSpPr txBox="1"/>
          <p:nvPr/>
        </p:nvSpPr>
        <p:spPr bwMode="auto">
          <a:xfrm>
            <a:off x="8129014" y="2340864"/>
            <a:ext cx="315648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 spc="18">
                <a:solidFill>
                  <a:srgbClr val="4A7A50"/>
                </a:solidFill>
              </a:rPr>
              <a:t>COUNTERPARTY RISK</a:t>
            </a:r>
            <a:endParaRPr sz="2800"/>
          </a:p>
        </p:txBody>
      </p:sp>
      <p:sp>
        <p:nvSpPr>
          <p:cNvPr id="1412346043" name="Rectangle 36"/>
          <p:cNvSpPr/>
          <p:nvPr/>
        </p:nvSpPr>
        <p:spPr bwMode="auto">
          <a:xfrm>
            <a:off x="8083296" y="2798064"/>
            <a:ext cx="3154680" cy="1078992"/>
          </a:xfrm>
          <a:prstGeom prst="rect">
            <a:avLst/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1196941" name="TextBox 37"/>
          <p:cNvSpPr txBox="1"/>
          <p:nvPr/>
        </p:nvSpPr>
        <p:spPr bwMode="auto">
          <a:xfrm>
            <a:off x="8174736" y="2834639"/>
            <a:ext cx="29728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 spc="15">
                <a:solidFill>
                  <a:srgbClr val="8A7A68"/>
                </a:solidFill>
              </a:rPr>
              <a:t>BEFORE</a:t>
            </a:r>
            <a:endParaRPr sz="2400"/>
          </a:p>
        </p:txBody>
      </p:sp>
      <p:sp>
        <p:nvSpPr>
          <p:cNvPr id="890784199" name="TextBox 38"/>
          <p:cNvSpPr txBox="1"/>
          <p:nvPr/>
        </p:nvSpPr>
        <p:spPr bwMode="auto">
          <a:xfrm>
            <a:off x="8174736" y="3090672"/>
            <a:ext cx="2972519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0" i="0">
                <a:solidFill>
                  <a:srgbClr val="8A7A68"/>
                </a:solidFill>
              </a:rPr>
              <a:t>Central failure</a:t>
            </a:r>
            <a:endParaRPr sz="2200"/>
          </a:p>
        </p:txBody>
      </p:sp>
      <p:sp>
        <p:nvSpPr>
          <p:cNvPr id="1052559566" name="TextBox 39"/>
          <p:cNvSpPr txBox="1"/>
          <p:nvPr/>
        </p:nvSpPr>
        <p:spPr bwMode="auto">
          <a:xfrm>
            <a:off x="7946136" y="39319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4A7A50"/>
                </a:solidFill>
              </a:rPr>
              <a:t>↓</a:t>
            </a:r>
            <a:endParaRPr/>
          </a:p>
        </p:txBody>
      </p:sp>
      <p:sp>
        <p:nvSpPr>
          <p:cNvPr id="1490673026" name="Rectangle 40"/>
          <p:cNvSpPr/>
          <p:nvPr/>
        </p:nvSpPr>
        <p:spPr bwMode="auto">
          <a:xfrm>
            <a:off x="8083296" y="4462272"/>
            <a:ext cx="3154680" cy="1325880"/>
          </a:xfrm>
          <a:prstGeom prst="rect">
            <a:avLst/>
          </a:prstGeom>
          <a:solidFill>
            <a:srgbClr val="4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4842458" name="TextBox 41"/>
          <p:cNvSpPr txBox="1"/>
          <p:nvPr/>
        </p:nvSpPr>
        <p:spPr bwMode="auto">
          <a:xfrm>
            <a:off x="8174736" y="4507992"/>
            <a:ext cx="29728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 spc="15">
                <a:solidFill>
                  <a:srgbClr val="FAF7F2"/>
                </a:solidFill>
              </a:rPr>
              <a:t>EDELPACTA</a:t>
            </a:r>
            <a:endParaRPr sz="2400"/>
          </a:p>
        </p:txBody>
      </p:sp>
      <p:sp>
        <p:nvSpPr>
          <p:cNvPr id="717940053" name="TextBox 42"/>
          <p:cNvSpPr txBox="1"/>
          <p:nvPr/>
        </p:nvSpPr>
        <p:spPr bwMode="auto">
          <a:xfrm>
            <a:off x="8174736" y="4773168"/>
            <a:ext cx="2971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FAF7F2"/>
                </a:solidFill>
              </a:rPr>
              <a:t>Zero</a:t>
            </a:r>
            <a:endParaRPr/>
          </a:p>
        </p:txBody>
      </p:sp>
      <p:sp>
        <p:nvSpPr>
          <p:cNvPr id="1019215588" name="Rectangle 43"/>
          <p:cNvSpPr/>
          <p:nvPr/>
        </p:nvSpPr>
        <p:spPr bwMode="auto">
          <a:xfrm>
            <a:off x="8129014" y="5888736"/>
            <a:ext cx="3063240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2650078" name="TextBox 44"/>
          <p:cNvSpPr txBox="1"/>
          <p:nvPr/>
        </p:nvSpPr>
        <p:spPr bwMode="auto">
          <a:xfrm>
            <a:off x="8129014" y="6007607"/>
            <a:ext cx="31554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7A68"/>
                </a:solidFill>
              </a:rPr>
              <a:t>Cryptographic guarantee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85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4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5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0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2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67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8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55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8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989069" name="Rectangle 1"/>
          <p:cNvSpPr/>
          <p:nvPr/>
        </p:nvSpPr>
        <p:spPr bwMode="auto">
          <a:xfrm>
            <a:off x="0" y="0"/>
            <a:ext cx="182880" cy="685800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6299520" name="Rectangle 2"/>
          <p:cNvSpPr/>
          <p:nvPr/>
        </p:nvSpPr>
        <p:spPr bwMode="auto">
          <a:xfrm>
            <a:off x="182880" y="0"/>
            <a:ext cx="12006072" cy="1051560"/>
          </a:xfrm>
          <a:prstGeom prst="rect">
            <a:avLst/>
          </a:prstGeom>
          <a:solidFill>
            <a:srgbClr val="FAF7F2"/>
          </a:solidFill>
          <a:ln w="6350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8308879" name="Rectangle 3"/>
          <p:cNvSpPr/>
          <p:nvPr/>
        </p:nvSpPr>
        <p:spPr bwMode="auto">
          <a:xfrm>
            <a:off x="182880" y="1033271"/>
            <a:ext cx="12006072" cy="4572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6497932" name="Picture 4" descr="edelpacta_log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8" y="82296"/>
            <a:ext cx="804672" cy="886968"/>
          </a:xfrm>
          <a:prstGeom prst="rect">
            <a:avLst/>
          </a:prstGeom>
        </p:spPr>
      </p:pic>
      <p:sp>
        <p:nvSpPr>
          <p:cNvPr id="1952195292" name="TextBox 5"/>
          <p:cNvSpPr txBox="1"/>
          <p:nvPr/>
        </p:nvSpPr>
        <p:spPr bwMode="auto">
          <a:xfrm>
            <a:off x="1325880" y="182880"/>
            <a:ext cx="4572360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600" b="1" i="0" spc="35">
                <a:solidFill>
                  <a:srgbClr val="6B1728"/>
                </a:solidFill>
              </a:rPr>
              <a:t>EDELPACTA</a:t>
            </a:r>
            <a:endParaRPr/>
          </a:p>
        </p:txBody>
      </p:sp>
      <p:sp>
        <p:nvSpPr>
          <p:cNvPr id="1847278693" name="TextBox 6"/>
          <p:cNvSpPr txBox="1"/>
          <p:nvPr/>
        </p:nvSpPr>
        <p:spPr bwMode="auto">
          <a:xfrm>
            <a:off x="1325880" y="640080"/>
            <a:ext cx="8229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 spc="18">
                <a:solidFill>
                  <a:srgbClr val="8A7A68"/>
                </a:solidFill>
              </a:rPr>
              <a:t>GO-TO-MARKET</a:t>
            </a:r>
            <a:endParaRPr sz="1400"/>
          </a:p>
        </p:txBody>
      </p:sp>
      <p:sp>
        <p:nvSpPr>
          <p:cNvPr id="710781681" name="TextBox 7"/>
          <p:cNvSpPr txBox="1"/>
          <p:nvPr/>
        </p:nvSpPr>
        <p:spPr bwMode="auto">
          <a:xfrm>
            <a:off x="502920" y="1188720"/>
            <a:ext cx="9144360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1A120A"/>
                </a:solidFill>
              </a:rPr>
              <a:t>How we reach them</a:t>
            </a:r>
            <a:endParaRPr sz="4000"/>
          </a:p>
        </p:txBody>
      </p:sp>
      <p:sp>
        <p:nvSpPr>
          <p:cNvPr id="831033841" name="Rectangle 8"/>
          <p:cNvSpPr/>
          <p:nvPr/>
        </p:nvSpPr>
        <p:spPr bwMode="auto">
          <a:xfrm>
            <a:off x="502920" y="1949925"/>
            <a:ext cx="10515600" cy="27432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7187115" name="Rectangle 9"/>
          <p:cNvSpPr/>
          <p:nvPr/>
        </p:nvSpPr>
        <p:spPr bwMode="auto">
          <a:xfrm flipH="0" flipV="0">
            <a:off x="411480" y="2267712"/>
            <a:ext cx="3429000" cy="4055607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4003675" name="Rectangle 10"/>
          <p:cNvSpPr/>
          <p:nvPr/>
        </p:nvSpPr>
        <p:spPr bwMode="auto">
          <a:xfrm>
            <a:off x="411480" y="2267712"/>
            <a:ext cx="3429000" cy="54864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7220195" name="Rectangle 11"/>
          <p:cNvSpPr/>
          <p:nvPr/>
        </p:nvSpPr>
        <p:spPr bwMode="auto">
          <a:xfrm>
            <a:off x="594360" y="2395728"/>
            <a:ext cx="3063240" cy="347472"/>
          </a:xfrm>
          <a:prstGeom prst="rect">
            <a:avLst/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805965" name="TextBox 12"/>
          <p:cNvSpPr txBox="1"/>
          <p:nvPr/>
        </p:nvSpPr>
        <p:spPr bwMode="auto">
          <a:xfrm>
            <a:off x="612648" y="2432303"/>
            <a:ext cx="3028464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 spc="11">
                <a:solidFill>
                  <a:srgbClr val="6B1728"/>
                </a:solidFill>
              </a:rPr>
              <a:t>Direct B2B</a:t>
            </a:r>
            <a:endParaRPr sz="2800"/>
          </a:p>
        </p:txBody>
      </p:sp>
      <p:sp>
        <p:nvSpPr>
          <p:cNvPr id="673230414" name="TextBox 13"/>
          <p:cNvSpPr txBox="1"/>
          <p:nvPr/>
        </p:nvSpPr>
        <p:spPr bwMode="auto">
          <a:xfrm flipH="0" flipV="0">
            <a:off x="612648" y="2936414"/>
            <a:ext cx="3439017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1A120A"/>
                </a:solidFill>
              </a:rPr>
              <a:t>Swiss Notary Associations</a:t>
            </a:r>
            <a:endParaRPr sz="2200"/>
          </a:p>
        </p:txBody>
      </p:sp>
      <p:sp>
        <p:nvSpPr>
          <p:cNvPr id="1309842473" name="Rectangle 14"/>
          <p:cNvSpPr/>
          <p:nvPr/>
        </p:nvSpPr>
        <p:spPr bwMode="auto">
          <a:xfrm>
            <a:off x="612648" y="3529584"/>
            <a:ext cx="3026664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343729" name="TextBox 15"/>
          <p:cNvSpPr txBox="1"/>
          <p:nvPr/>
        </p:nvSpPr>
        <p:spPr bwMode="auto">
          <a:xfrm>
            <a:off x="612648" y="3657600"/>
            <a:ext cx="3065040" cy="2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0">
                <a:solidFill>
                  <a:srgbClr val="6B5A44"/>
                </a:solidFill>
              </a:rPr>
              <a:t>Notaries are the legal gatekeepers of every property transfer in Switzerland.</a:t>
            </a:r>
            <a:br>
              <a:rPr sz="1600" b="0" i="0">
                <a:solidFill>
                  <a:srgbClr val="6B5A44"/>
                </a:solidFill>
              </a:rPr>
            </a:b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We partner with the Schweizerische Notarenkonferenz to pilot EdelPacta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as the official digital escrow standard.</a:t>
            </a:r>
            <a:endParaRPr sz="2200"/>
          </a:p>
        </p:txBody>
      </p:sp>
      <p:sp>
        <p:nvSpPr>
          <p:cNvPr id="518994945" name="Rectangle 16"/>
          <p:cNvSpPr/>
          <p:nvPr/>
        </p:nvSpPr>
        <p:spPr bwMode="auto">
          <a:xfrm flipH="0" flipV="0">
            <a:off x="4178808" y="2267712"/>
            <a:ext cx="3429000" cy="4055607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4539596" name="Rectangle 17"/>
          <p:cNvSpPr/>
          <p:nvPr/>
        </p:nvSpPr>
        <p:spPr bwMode="auto">
          <a:xfrm>
            <a:off x="4178808" y="2267712"/>
            <a:ext cx="3429000" cy="54864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625981" name="Rectangle 18"/>
          <p:cNvSpPr/>
          <p:nvPr/>
        </p:nvSpPr>
        <p:spPr bwMode="auto">
          <a:xfrm>
            <a:off x="4361688" y="2395728"/>
            <a:ext cx="3063240" cy="347472"/>
          </a:xfrm>
          <a:prstGeom prst="rect">
            <a:avLst/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7565281" name="TextBox 19"/>
          <p:cNvSpPr txBox="1"/>
          <p:nvPr/>
        </p:nvSpPr>
        <p:spPr bwMode="auto">
          <a:xfrm>
            <a:off x="4379976" y="2432303"/>
            <a:ext cx="3028464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 spc="11">
                <a:solidFill>
                  <a:srgbClr val="B8963E"/>
                </a:solidFill>
              </a:rPr>
              <a:t>Built-in distribution</a:t>
            </a:r>
            <a:endParaRPr sz="2800"/>
          </a:p>
        </p:txBody>
      </p:sp>
      <p:sp>
        <p:nvSpPr>
          <p:cNvPr id="2104117330" name="TextBox 20"/>
          <p:cNvSpPr txBox="1"/>
          <p:nvPr/>
        </p:nvSpPr>
        <p:spPr bwMode="auto">
          <a:xfrm flipH="0" flipV="0">
            <a:off x="4379975" y="2936414"/>
            <a:ext cx="3439017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1A120A"/>
                </a:solidFill>
              </a:rPr>
              <a:t>Swiyu — Swiss Gov e-ID</a:t>
            </a:r>
            <a:endParaRPr sz="2200"/>
          </a:p>
        </p:txBody>
      </p:sp>
      <p:sp>
        <p:nvSpPr>
          <p:cNvPr id="565853417" name="Rectangle 21"/>
          <p:cNvSpPr/>
          <p:nvPr/>
        </p:nvSpPr>
        <p:spPr bwMode="auto">
          <a:xfrm>
            <a:off x="4379976" y="3529584"/>
            <a:ext cx="3026664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6123046" name="TextBox 22"/>
          <p:cNvSpPr txBox="1"/>
          <p:nvPr/>
        </p:nvSpPr>
        <p:spPr bwMode="auto">
          <a:xfrm>
            <a:off x="4379976" y="3657600"/>
            <a:ext cx="3065400" cy="2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0">
                <a:solidFill>
                  <a:srgbClr val="6B5A44"/>
                </a:solidFill>
              </a:rPr>
              <a:t>Our KYC is powered by the Swiss government's own digital identity app.</a:t>
            </a:r>
            <a:br>
              <a:rPr sz="1600" b="0" i="0">
                <a:solidFill>
                  <a:srgbClr val="6B5A44"/>
                </a:solidFill>
              </a:rPr>
            </a:b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Every Swiss citizen with a Swiyu account is a potential user.</a:t>
            </a:r>
            <a:br>
              <a:rPr sz="1600" b="0" i="0">
                <a:solidFill>
                  <a:srgbClr val="6B5A44"/>
                </a:solidFill>
              </a:rPr>
            </a:b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Government backing accelerates institutional trust.</a:t>
            </a:r>
            <a:endParaRPr sz="2200"/>
          </a:p>
        </p:txBody>
      </p:sp>
      <p:sp>
        <p:nvSpPr>
          <p:cNvPr id="1626311937" name="Rectangle 23"/>
          <p:cNvSpPr/>
          <p:nvPr/>
        </p:nvSpPr>
        <p:spPr bwMode="auto">
          <a:xfrm flipH="0" flipV="0">
            <a:off x="7946136" y="2267712"/>
            <a:ext cx="3429000" cy="4055607"/>
          </a:xfrm>
          <a:prstGeom prst="rect">
            <a:avLst/>
          </a:prstGeom>
          <a:solidFill>
            <a:srgbClr val="FAF7F2"/>
          </a:solidFill>
          <a:ln w="9525">
            <a:solidFill>
              <a:srgbClr val="C8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8440833" name="Rectangle 24"/>
          <p:cNvSpPr/>
          <p:nvPr/>
        </p:nvSpPr>
        <p:spPr bwMode="auto">
          <a:xfrm>
            <a:off x="7946136" y="2267712"/>
            <a:ext cx="3429000" cy="54864"/>
          </a:xfrm>
          <a:prstGeom prst="rect">
            <a:avLst/>
          </a:prstGeom>
          <a:solidFill>
            <a:srgbClr val="4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235936" name="Rectangle 25"/>
          <p:cNvSpPr/>
          <p:nvPr/>
        </p:nvSpPr>
        <p:spPr bwMode="auto">
          <a:xfrm>
            <a:off x="8129014" y="2395728"/>
            <a:ext cx="3063240" cy="347472"/>
          </a:xfrm>
          <a:prstGeom prst="rect">
            <a:avLst/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4167284" name="TextBox 26"/>
          <p:cNvSpPr txBox="1"/>
          <p:nvPr/>
        </p:nvSpPr>
        <p:spPr bwMode="auto">
          <a:xfrm>
            <a:off x="8147304" y="2432303"/>
            <a:ext cx="3028464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 spc="11">
                <a:solidFill>
                  <a:srgbClr val="4A7A50"/>
                </a:solidFill>
              </a:rPr>
              <a:t>B2B2C</a:t>
            </a:r>
            <a:endParaRPr sz="2800"/>
          </a:p>
        </p:txBody>
      </p:sp>
      <p:sp>
        <p:nvSpPr>
          <p:cNvPr id="1899807374" name="TextBox 27"/>
          <p:cNvSpPr txBox="1"/>
          <p:nvPr/>
        </p:nvSpPr>
        <p:spPr bwMode="auto">
          <a:xfrm flipH="0" flipV="0">
            <a:off x="8147304" y="2936414"/>
            <a:ext cx="3439017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1A120A"/>
                </a:solidFill>
              </a:rPr>
              <a:t>Swiss Banks &amp; Proptech</a:t>
            </a:r>
            <a:endParaRPr sz="2200"/>
          </a:p>
        </p:txBody>
      </p:sp>
      <p:sp>
        <p:nvSpPr>
          <p:cNvPr id="1532374178" name="Rectangle 28"/>
          <p:cNvSpPr/>
          <p:nvPr/>
        </p:nvSpPr>
        <p:spPr bwMode="auto">
          <a:xfrm>
            <a:off x="8147304" y="3529584"/>
            <a:ext cx="3026664" cy="18288"/>
          </a:xfrm>
          <a:prstGeom prst="rect">
            <a:avLst/>
          </a:prstGeom>
          <a:solidFill>
            <a:srgbClr val="C8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1163909" name="TextBox 29"/>
          <p:cNvSpPr txBox="1"/>
          <p:nvPr/>
        </p:nvSpPr>
        <p:spPr bwMode="auto">
          <a:xfrm>
            <a:off x="8147304" y="3657600"/>
            <a:ext cx="3064680" cy="155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0">
                <a:solidFill>
                  <a:srgbClr val="6B5A44"/>
                </a:solidFill>
              </a:rPr>
              <a:t>Real estate platforms (Homegate, ImmoScout24) and cantonal banks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integrate EdelPacta as their settlement layer, reaching buyers</a:t>
            </a:r>
            <a:br>
              <a:rPr sz="1600" b="0" i="0">
                <a:solidFill>
                  <a:srgbClr val="6B5A44"/>
                </a:solidFill>
              </a:rPr>
            </a:br>
            <a:r>
              <a:rPr sz="1600" b="0" i="0">
                <a:solidFill>
                  <a:srgbClr val="6B5A44"/>
                </a:solidFill>
              </a:rPr>
              <a:t>and sellers at the point of transaction.</a:t>
            </a:r>
            <a:endParaRPr sz="2200"/>
          </a:p>
        </p:txBody>
      </p:sp>
      <p:sp>
        <p:nvSpPr>
          <p:cNvPr id="857280758" name="Rectangle 30"/>
          <p:cNvSpPr/>
          <p:nvPr/>
        </p:nvSpPr>
        <p:spPr bwMode="auto">
          <a:xfrm>
            <a:off x="182880" y="6492240"/>
            <a:ext cx="12006072" cy="365760"/>
          </a:xfrm>
          <a:prstGeom prst="rect">
            <a:avLst/>
          </a:prstGeom>
          <a:solidFill>
            <a:srgbClr val="6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2170325" name="TextBox 31"/>
          <p:cNvSpPr txBox="1"/>
          <p:nvPr/>
        </p:nvSpPr>
        <p:spPr bwMode="auto">
          <a:xfrm>
            <a:off x="182880" y="6528816"/>
            <a:ext cx="12006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AF7F2"/>
                </a:solidFill>
              </a:rPr>
              <a:t>Dylan Fehlmann  &amp;  Hugo Germano  |  XRPL Hackathon 2025  |  Programmability Track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9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53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2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56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11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85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12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31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44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23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16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80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37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16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2026-03-22T08:05:47Z</dcterms:modified>
  <cp:category/>
</cp:coreProperties>
</file>